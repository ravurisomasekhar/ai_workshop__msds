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URI SOMASEKHAR" userId="4c38ed612dd12dde" providerId="LiveId" clId="{22CC3E0A-2C78-41A0-810B-B81AD08A3B8F}"/>
    <pc:docChg chg="modSld">
      <pc:chgData name="RAVURI SOMASEKHAR" userId="4c38ed612dd12dde" providerId="LiveId" clId="{22CC3E0A-2C78-41A0-810B-B81AD08A3B8F}" dt="2026-05-03T10:57:00.306" v="0" actId="1076"/>
      <pc:docMkLst>
        <pc:docMk/>
      </pc:docMkLst>
      <pc:sldChg chg="modSp mod">
        <pc:chgData name="RAVURI SOMASEKHAR" userId="4c38ed612dd12dde" providerId="LiveId" clId="{22CC3E0A-2C78-41A0-810B-B81AD08A3B8F}" dt="2026-05-03T10:57:00.306" v="0" actId="1076"/>
        <pc:sldMkLst>
          <pc:docMk/>
          <pc:sldMk cId="0" sldId="256"/>
        </pc:sldMkLst>
        <pc:spChg chg="mod">
          <ac:chgData name="RAVURI SOMASEKHAR" userId="4c38ed612dd12dde" providerId="LiveId" clId="{22CC3E0A-2C78-41A0-810B-B81AD08A3B8F}" dt="2026-05-03T10:57:00.306" v="0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97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PERCEPTIVE &amp; GENERATIVE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1,000-Page Tender Interrogator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07366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LLMs in your documents so they never hallucinate.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Transrail AI Workshop  |  March 13–14, 2026  |  Task 4 of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Tender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PGCIL and international EPC tenders — hundreds of pages of legal and technical complexity.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965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500–1,000 pages per tender.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 clauses, payment terms,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specs buried deep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dense legalese.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9659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760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missed clause =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in penalties.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 managers need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answers, not guesses.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Pressure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deadlines are tight.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reading takes weeks.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who move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win contracts.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 could interrogate a 1,000-page tender like chatting with an expert who read every word?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RAG?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the antidote to hallucination.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7315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Alone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2377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public internet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never seen your tender docs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invents plausible answers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LD clause is 5%..." (made up)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554480"/>
            <a:ext cx="3657600" cy="73152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83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+ RAG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2377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chunks first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your actual documents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real source 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"LD is 0.5%/week..." (Source: pg. 42)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6227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389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Retrieve first, then Generate. The LLM becomes a reader, not a guesser.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Embeddings: Text as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search by meaning, we first convert text into numeric vectors.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model converts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into a list of numbers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vector) — typically 768 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1,536 dimensions long.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"LD clause" → [0.23, -0.41, ...]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54480"/>
            <a:ext cx="24688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1488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meanings produce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vectors. "Penalty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delay" and "LD clause"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up close in vector space.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cosine_similarity ≈ 0.92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1488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like OpenAI's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 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turn any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 into a fixed-size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fingerprint.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embed("clause").shape = [1536]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the foundation of RAG — they make semantic search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Chunking: Slicing the Document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embed 1,000 pages at once — break them into digestible pieces.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373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PGCIL Tender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 Pages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" y="3063240"/>
            <a:ext cx="137160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3227832"/>
            <a:ext cx="13716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392424"/>
            <a:ext cx="137160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557016"/>
            <a:ext cx="13716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3721608"/>
            <a:ext cx="1371600" cy="54864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2560320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08960" y="1554480"/>
            <a:ext cx="1325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08960" y="1554480"/>
            <a:ext cx="1325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1"/>
          <p:cNvSpPr/>
          <p:nvPr/>
        </p:nvSpPr>
        <p:spPr>
          <a:xfrm>
            <a:off x="3108960" y="182880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 Clauses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(pg. 40–44)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46120" y="3017520"/>
            <a:ext cx="10515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3"/>
          <p:cNvSpPr/>
          <p:nvPr/>
        </p:nvSpPr>
        <p:spPr>
          <a:xfrm>
            <a:off x="3246120" y="3182112"/>
            <a:ext cx="10515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4"/>
          <p:cNvSpPr/>
          <p:nvPr/>
        </p:nvSpPr>
        <p:spPr>
          <a:xfrm>
            <a:off x="3246120" y="3346704"/>
            <a:ext cx="10515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Shape 15"/>
          <p:cNvSpPr/>
          <p:nvPr/>
        </p:nvSpPr>
        <p:spPr>
          <a:xfrm>
            <a:off x="3246120" y="3511296"/>
            <a:ext cx="10515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Shape 16"/>
          <p:cNvSpPr/>
          <p:nvPr/>
        </p:nvSpPr>
        <p:spPr>
          <a:xfrm>
            <a:off x="4617720" y="1554480"/>
            <a:ext cx="1325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17720" y="1554480"/>
            <a:ext cx="13258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18"/>
          <p:cNvSpPr/>
          <p:nvPr/>
        </p:nvSpPr>
        <p:spPr>
          <a:xfrm>
            <a:off x="4617720" y="182880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(pg. 55–58)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0" y="3017520"/>
            <a:ext cx="10515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Shape 20"/>
          <p:cNvSpPr/>
          <p:nvPr/>
        </p:nvSpPr>
        <p:spPr>
          <a:xfrm>
            <a:off x="4754880" y="3182112"/>
            <a:ext cx="10515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Shape 21"/>
          <p:cNvSpPr/>
          <p:nvPr/>
        </p:nvSpPr>
        <p:spPr>
          <a:xfrm>
            <a:off x="4754880" y="3346704"/>
            <a:ext cx="10515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3511296"/>
            <a:ext cx="10515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Shape 23"/>
          <p:cNvSpPr/>
          <p:nvPr/>
        </p:nvSpPr>
        <p:spPr>
          <a:xfrm>
            <a:off x="6126480" y="1554480"/>
            <a:ext cx="1325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126480" y="1554480"/>
            <a:ext cx="13258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5"/>
          <p:cNvSpPr/>
          <p:nvPr/>
        </p:nvSpPr>
        <p:spPr>
          <a:xfrm>
            <a:off x="6126480" y="182880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Specs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(pg. 102–110)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263640" y="3017520"/>
            <a:ext cx="10515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Shape 27"/>
          <p:cNvSpPr/>
          <p:nvPr/>
        </p:nvSpPr>
        <p:spPr>
          <a:xfrm>
            <a:off x="6263640" y="3182112"/>
            <a:ext cx="10515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Shape 28"/>
          <p:cNvSpPr/>
          <p:nvPr/>
        </p:nvSpPr>
        <p:spPr>
          <a:xfrm>
            <a:off x="6263640" y="3346704"/>
            <a:ext cx="10515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Shape 29"/>
          <p:cNvSpPr/>
          <p:nvPr/>
        </p:nvSpPr>
        <p:spPr>
          <a:xfrm>
            <a:off x="6263640" y="3511296"/>
            <a:ext cx="10515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Shape 30"/>
          <p:cNvSpPr/>
          <p:nvPr/>
        </p:nvSpPr>
        <p:spPr>
          <a:xfrm>
            <a:off x="7635240" y="1554480"/>
            <a:ext cx="1325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635240" y="1554480"/>
            <a:ext cx="13258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2"/>
          <p:cNvSpPr/>
          <p:nvPr/>
        </p:nvSpPr>
        <p:spPr>
          <a:xfrm>
            <a:off x="7635240" y="182880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(pg. 340–345)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7772400" y="3017520"/>
            <a:ext cx="10515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Shape 34"/>
          <p:cNvSpPr/>
          <p:nvPr/>
        </p:nvSpPr>
        <p:spPr>
          <a:xfrm>
            <a:off x="7772400" y="3182112"/>
            <a:ext cx="10515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Shape 35"/>
          <p:cNvSpPr/>
          <p:nvPr/>
        </p:nvSpPr>
        <p:spPr>
          <a:xfrm>
            <a:off x="7772400" y="3346704"/>
            <a:ext cx="10515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Shape 36"/>
          <p:cNvSpPr/>
          <p:nvPr/>
        </p:nvSpPr>
        <p:spPr>
          <a:xfrm>
            <a:off x="7772400" y="3511296"/>
            <a:ext cx="10515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7"/>
          <p:cNvSpPr/>
          <p:nvPr/>
        </p:nvSpPr>
        <p:spPr>
          <a:xfrm>
            <a:off x="731520" y="4343400"/>
            <a:ext cx="7680960" cy="59436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34840"/>
            <a:ext cx="320040" cy="32004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1371600" y="43434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matters: too small = lost context, too large = diluted relevance. Typical: 500–1,000 tokens with overlap.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DB: Semantic Memory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embeddings, then find the most relevant chunks by meaning — not keywords.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365760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91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1560" y="228600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46304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gets embedded into a vector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51560" y="274320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6304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stored in ChromaDB / Pinecone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51560" y="320040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46304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also gets embedded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51560" y="365760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463040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top-K nearest vectors (= most relevant chunks)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1463040"/>
            <a:ext cx="365760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1463040"/>
            <a:ext cx="36576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91640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7784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Not Just Ctrl+F?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50292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Search: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02920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"penalty for delay" → misses "LD clause"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02920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Search: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029200" y="3337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"penalty for delay" → finds "LD clause"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"liquidated damages" and "penalties"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understands meaning. Keywords only match exact words.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RAG Pipeline: End to 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question to grounded, cited answer — in four steps.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544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45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the 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for delays?"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331720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60320" y="14173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155448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9"/>
          <p:cNvSpPr/>
          <p:nvPr/>
        </p:nvSpPr>
        <p:spPr>
          <a:xfrm>
            <a:off x="3200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21945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6032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65176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ChromaDB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chunks returned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331720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754880" y="14173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394960" y="15544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4"/>
          <p:cNvSpPr/>
          <p:nvPr/>
        </p:nvSpPr>
        <p:spPr>
          <a:xfrm>
            <a:off x="5394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19456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5488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84632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chunks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synthesizes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answer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331720"/>
            <a:ext cx="228600" cy="2286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949440" y="14173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589520" y="15544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19"/>
          <p:cNvSpPr/>
          <p:nvPr/>
        </p:nvSpPr>
        <p:spPr>
          <a:xfrm>
            <a:off x="7589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2194560"/>
            <a:ext cx="548640" cy="5486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94944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Cite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04088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includes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"Source: pg. 42"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verification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2976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371600" y="4206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sees the full document — only the retrieved chunks. This is both the strength and the limitation of RAG.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 vs Grounding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is non-negotiable for high-stakes enterprise use.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20116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LD clause stipulates a penalty of 5%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week of delay, capped at 20%."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584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confident. Completely wrong.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LD is 0.5%/week, capped at 10%.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65760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54864" cy="201168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 (RAG)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LD clause is 0.5% of contract price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week of delay, max 10%."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2920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(Source: pg. 42, Clause 14.2)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Verifiable. Trustworthy. Legally defensible.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3749040"/>
            <a:ext cx="768096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749040"/>
            <a:ext cx="7680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4"/>
          <p:cNvSpPr/>
          <p:nvPr/>
        </p:nvSpPr>
        <p:spPr>
          <a:xfrm>
            <a:off x="100584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at Stake for Transrail?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005840" y="4160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LD percentage in a bid = millions in unexpected penalties.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payment milestone = cash flow crisis on a multi-year EPC project.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not a curiosity — it's a business risk.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 working together to build your RAG pipeline: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7830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framework.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together: loader 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 → embedder 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→ LLM → output.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55448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5448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7830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ChromaDB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2971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vector database.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embeddings locally.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easy to set up,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workshops.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78308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(GPT / Claude)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5080" y="2971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engine.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retrieved chunks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→ generates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9028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526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open-source and free. Your RAG pipeline runs entirely on your machine.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Build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097280"/>
            <a:ext cx="694944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097280"/>
            <a:ext cx="694944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PGCIL 400kV Substation Tender v2.pdf — RAG Chat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783080"/>
            <a:ext cx="5029200" cy="4114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783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ingested the tender document. What would you like to know?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2377440"/>
            <a:ext cx="502920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377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exact LD clauses for project delays?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971800"/>
            <a:ext cx="59436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9718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LD clause stipulates 0.5% of contract price per week of delay,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a maximum of 10%.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3474720"/>
            <a:ext cx="256032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474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pg. 42, Clause 14.2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4023360"/>
            <a:ext cx="54864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the tender...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Citations: The HCI Secret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bidding manager cannot legally rely on AI — they must verify against the original.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7315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Citation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LD clause is 0.5% per week,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capped at 10%."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thinks: "Is this right?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page? Which clause?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can't submit a bid on faith."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554480"/>
            <a:ext cx="3657600" cy="73152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83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Clickable Citation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LD clause is 0.5% per week,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capped at 10%."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212080" y="2834640"/>
            <a:ext cx="292608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2"/>
          <p:cNvSpPr/>
          <p:nvPr/>
        </p:nvSpPr>
        <p:spPr>
          <a:xfrm>
            <a:off x="521208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pg. 42, Clause 14.2  →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→ opens the PDF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exact page for verification.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solidFill>
            <a:srgbClr val="F0FDF4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3367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4160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Principle: Trust through verifiability. Every AI answer must link back to its source.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Mission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pipeline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tender PDF,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with OpenAI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Sentence-BERT, store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2402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6616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484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8"/>
          <p:cNvSpPr/>
          <p:nvPr/>
        </p:nvSpPr>
        <p:spPr>
          <a:xfrm>
            <a:off x="44348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1031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 up the chat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7033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run_rag_pipeline()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LangChain. Query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+ generate with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24028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080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26948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3"/>
          <p:cNvSpPr/>
          <p:nvPr/>
        </p:nvSpPr>
        <p:spPr>
          <a:xfrm>
            <a:off x="7269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210312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citations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379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every answer to include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"Source: pg. X, Clause Y."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a clickable link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original PDF page.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FFFBEB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462272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25880" y="4389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Ask "What are the LD clauses?" and "What are the payment milestones?" — verify against the PDF.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let the LLM guess.</a:t>
            </a:r>
            <a:endParaRPr lang="en-US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 it in documents.</a:t>
            </a:r>
            <a:endParaRPr lang="en-US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citations.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bidding manager cannot legally rely on AI. Clickable citations that link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original PDF page make AI answers verifiable and trustworthy.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365760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31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eliminates hallucination risk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3840480"/>
            <a:ext cx="365760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31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build trust and legal safety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Task 5 — Structured Output: WhatsApp-to-ERP Translator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Microsoft Office PowerPoint</Application>
  <PresentationFormat>On-screen Show (16:9)</PresentationFormat>
  <Paragraphs>215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4: RAG — The 1,000-Page Tender Interrogator</dc:title>
  <dc:subject>PptxGenJS Presentation</dc:subject>
  <dc:creator>Tony — Transrail AI Workshop</dc:creator>
  <cp:lastModifiedBy>RAVURI SOMASEKHAR</cp:lastModifiedBy>
  <cp:revision>1</cp:revision>
  <dcterms:created xsi:type="dcterms:W3CDTF">2026-03-11T22:24:03Z</dcterms:created>
  <dcterms:modified xsi:type="dcterms:W3CDTF">2026-05-03T10:57:17Z</dcterms:modified>
</cp:coreProperties>
</file>