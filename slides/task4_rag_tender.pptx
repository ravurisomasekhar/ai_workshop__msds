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PERCEPTIVE &amp; GENERATIVE 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1,000-Page Tender Interrogator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LLMs in your documents so they never hallucinate.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914400"/>
            <a:ext cx="1645920" cy="1645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594860"/>
            <a:ext cx="9144000" cy="5486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5948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Transrail AI Workshop  |  March 13–14, 2026  |  Task 4 of 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Tender Challenge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PGCIL and international EPC tenders — hundreds of pages of legal and technical complexity.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2468880" cy="2560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96596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Volume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31546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500–1,000 pages per tender.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 clauses, payment terms,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specs buried deep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dense legalese.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74720" y="1737360"/>
            <a:ext cx="2468880" cy="2560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96596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7472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Precision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3657600" y="31546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missed clause =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in penalties.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 managers need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answers, not guesses.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17920" y="1737360"/>
            <a:ext cx="2468880" cy="2560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96596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1792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Pressure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400800" y="31546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deadlines are tight.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reading takes weeks.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who move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win contracts.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you could interrogate a 1,000-page tender like chatting with an expert who read every word?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RAG?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— the antidote to hallucination.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54480"/>
            <a:ext cx="3657600" cy="73152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LLM Alone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237744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public internet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never seen your tender docs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invents plausible answers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LD clause is 5%..." (made up)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754880" y="155448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554480"/>
            <a:ext cx="3657600" cy="73152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7830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LLM + RAG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5029200" y="237744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relevant chunks first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your actual documents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grounded in real source text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"LD is 0.5%/week..." (Source: pg. 42)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EEF2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462272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43891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= Retrieve first, then Generate. The LLM becomes a reader, not a guesser.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Embeddings: Text as Numbers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by meaning, we first convert text into numeric vectors.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24688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54480"/>
            <a:ext cx="246888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embedding model converts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into a list of numbers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vector) — typically 768 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1,536 dimensions long.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"LD clause" → [0.23, -0.41, ...]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1554480"/>
            <a:ext cx="24688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554480"/>
            <a:ext cx="246888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0" y="214884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meanings produce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vectors. "Penalty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delay" and "LD clause"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up close in vector space.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6616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cosine_similarity ≈ 0.92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17920" y="1554480"/>
            <a:ext cx="24688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554480"/>
            <a:ext cx="246888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How?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214884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like OpenAI's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 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 turn any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chunk into a fixed-size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fingerprint.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embed("clause").shape = [1536]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526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are the foundation of RAG — they make semantic search possible.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Chunking: Slicing the Document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embed 1,000 pages at once — break them into digestible pieces.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0116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3736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3774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PGCIL Tender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500 Pages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77240" y="3063240"/>
            <a:ext cx="1371600" cy="54864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3227832"/>
            <a:ext cx="1371600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3392424"/>
            <a:ext cx="1371600" cy="54864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3557016"/>
            <a:ext cx="1371600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777240" y="3721608"/>
            <a:ext cx="1371600" cy="54864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2560320"/>
            <a:ext cx="274320" cy="274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108960" y="1554480"/>
            <a:ext cx="1325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108960" y="1554480"/>
            <a:ext cx="132588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5" name="Text 11"/>
          <p:cNvSpPr/>
          <p:nvPr/>
        </p:nvSpPr>
        <p:spPr>
          <a:xfrm>
            <a:off x="3108960" y="182880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 Clauses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(pg. 40–44)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246120" y="3017520"/>
            <a:ext cx="105156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7" name="Shape 13"/>
          <p:cNvSpPr/>
          <p:nvPr/>
        </p:nvSpPr>
        <p:spPr>
          <a:xfrm>
            <a:off x="3246120" y="3182112"/>
            <a:ext cx="105156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8" name="Shape 14"/>
          <p:cNvSpPr/>
          <p:nvPr/>
        </p:nvSpPr>
        <p:spPr>
          <a:xfrm>
            <a:off x="3246120" y="3346704"/>
            <a:ext cx="105156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" name="Shape 15"/>
          <p:cNvSpPr/>
          <p:nvPr/>
        </p:nvSpPr>
        <p:spPr>
          <a:xfrm>
            <a:off x="3246120" y="3511296"/>
            <a:ext cx="105156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Shape 16"/>
          <p:cNvSpPr/>
          <p:nvPr/>
        </p:nvSpPr>
        <p:spPr>
          <a:xfrm>
            <a:off x="4617720" y="1554480"/>
            <a:ext cx="1325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17720" y="1554480"/>
            <a:ext cx="132588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2" name="Text 18"/>
          <p:cNvSpPr/>
          <p:nvPr/>
        </p:nvSpPr>
        <p:spPr>
          <a:xfrm>
            <a:off x="4617720" y="182880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Terms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(pg. 55–58)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754880" y="3017520"/>
            <a:ext cx="105156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4" name="Shape 20"/>
          <p:cNvSpPr/>
          <p:nvPr/>
        </p:nvSpPr>
        <p:spPr>
          <a:xfrm>
            <a:off x="4754880" y="3182112"/>
            <a:ext cx="105156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5" name="Shape 21"/>
          <p:cNvSpPr/>
          <p:nvPr/>
        </p:nvSpPr>
        <p:spPr>
          <a:xfrm>
            <a:off x="4754880" y="3346704"/>
            <a:ext cx="105156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6" name="Shape 22"/>
          <p:cNvSpPr/>
          <p:nvPr/>
        </p:nvSpPr>
        <p:spPr>
          <a:xfrm>
            <a:off x="4754880" y="3511296"/>
            <a:ext cx="105156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7" name="Shape 23"/>
          <p:cNvSpPr/>
          <p:nvPr/>
        </p:nvSpPr>
        <p:spPr>
          <a:xfrm>
            <a:off x="6126480" y="1554480"/>
            <a:ext cx="1325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126480" y="1554480"/>
            <a:ext cx="132588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9" name="Text 25"/>
          <p:cNvSpPr/>
          <p:nvPr/>
        </p:nvSpPr>
        <p:spPr>
          <a:xfrm>
            <a:off x="6126480" y="182880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Specs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(pg. 102–110)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263640" y="3017520"/>
            <a:ext cx="105156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1" name="Shape 27"/>
          <p:cNvSpPr/>
          <p:nvPr/>
        </p:nvSpPr>
        <p:spPr>
          <a:xfrm>
            <a:off x="6263640" y="3182112"/>
            <a:ext cx="105156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2" name="Shape 28"/>
          <p:cNvSpPr/>
          <p:nvPr/>
        </p:nvSpPr>
        <p:spPr>
          <a:xfrm>
            <a:off x="6263640" y="3346704"/>
            <a:ext cx="105156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3" name="Shape 29"/>
          <p:cNvSpPr/>
          <p:nvPr/>
        </p:nvSpPr>
        <p:spPr>
          <a:xfrm>
            <a:off x="6263640" y="3511296"/>
            <a:ext cx="105156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4" name="Shape 30"/>
          <p:cNvSpPr/>
          <p:nvPr/>
        </p:nvSpPr>
        <p:spPr>
          <a:xfrm>
            <a:off x="7635240" y="1554480"/>
            <a:ext cx="1325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7635240" y="1554480"/>
            <a:ext cx="132588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6" name="Text 32"/>
          <p:cNvSpPr/>
          <p:nvPr/>
        </p:nvSpPr>
        <p:spPr>
          <a:xfrm>
            <a:off x="7635240" y="182880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(pg. 340–345)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7772400" y="3017520"/>
            <a:ext cx="10515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8" name="Shape 34"/>
          <p:cNvSpPr/>
          <p:nvPr/>
        </p:nvSpPr>
        <p:spPr>
          <a:xfrm>
            <a:off x="7772400" y="3182112"/>
            <a:ext cx="10515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9" name="Shape 35"/>
          <p:cNvSpPr/>
          <p:nvPr/>
        </p:nvSpPr>
        <p:spPr>
          <a:xfrm>
            <a:off x="7772400" y="3346704"/>
            <a:ext cx="10515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0" name="Shape 36"/>
          <p:cNvSpPr/>
          <p:nvPr/>
        </p:nvSpPr>
        <p:spPr>
          <a:xfrm>
            <a:off x="7772400" y="3511296"/>
            <a:ext cx="10515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1" name="Shape 37"/>
          <p:cNvSpPr/>
          <p:nvPr/>
        </p:nvSpPr>
        <p:spPr>
          <a:xfrm>
            <a:off x="731520" y="4343400"/>
            <a:ext cx="7680960" cy="594360"/>
          </a:xfrm>
          <a:prstGeom prst="rect">
            <a:avLst/>
          </a:prstGeom>
          <a:solidFill>
            <a:srgbClr val="EEF2FF"/>
          </a:solidFill>
          <a:ln/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434840"/>
            <a:ext cx="320040" cy="320040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1371600" y="43434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matters: too small = lost context, too large = diluted relevance. Typical: 500–1,000 tokens with overlap.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Vector DB: Semantic Memory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embeddings, then find the most relevant chunks by meaning — not keywords.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65760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3657600" cy="54864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051560" y="2286000"/>
            <a:ext cx="274320" cy="2743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9" name="Text 6"/>
          <p:cNvSpPr/>
          <p:nvPr/>
        </p:nvSpPr>
        <p:spPr>
          <a:xfrm>
            <a:off x="105156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46304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chunk gets embedded into a vector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51560" y="2743200"/>
            <a:ext cx="274320" cy="2743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1051560" y="2743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463040" y="2743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 stored in ChromaDB / Pinecone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51560" y="3200400"/>
            <a:ext cx="274320" cy="2743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1051560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46304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 also gets embedded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51560" y="3657600"/>
            <a:ext cx="274320" cy="2743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8" name="Text 15"/>
          <p:cNvSpPr/>
          <p:nvPr/>
        </p:nvSpPr>
        <p:spPr>
          <a:xfrm>
            <a:off x="1051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463040" y="3657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top-K nearest vectors (= most relevant chunks)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54880" y="1463040"/>
            <a:ext cx="365760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754880" y="1463040"/>
            <a:ext cx="3657600" cy="54864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91640"/>
            <a:ext cx="411480" cy="41148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7784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Not Just Ctrl+F?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502920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Search: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02920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"penalty for delay" → misses "LD clause"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502920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Search: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5029200" y="33375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"penalty for delay" → finds "LD clause"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"liquidated damages" and "penalties"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understands meaning. Keywords only match exact words.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RAG Pipeline: End to End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user question to grounded, cited answer — in four steps.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55448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3246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asks: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are the 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clauses for delays?"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31720"/>
            <a:ext cx="228600" cy="228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60320" y="141732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200400" y="1554480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9"/>
          <p:cNvSpPr/>
          <p:nvPr/>
        </p:nvSpPr>
        <p:spPr>
          <a:xfrm>
            <a:off x="32004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219456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56032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Retrieve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2651760" y="3246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query →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ChromaDB →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chunks returned</a:t>
            </a:r>
            <a:endParaRPr lang="en-US" sz="11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2331720"/>
            <a:ext cx="228600" cy="2286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754880" y="141732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5394960" y="155448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0" name="Text 14"/>
          <p:cNvSpPr/>
          <p:nvPr/>
        </p:nvSpPr>
        <p:spPr>
          <a:xfrm>
            <a:off x="53949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2194560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75488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4846320" y="3246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chunks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→ synthesizes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grounded answer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2331720"/>
            <a:ext cx="228600" cy="2286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949440" y="141732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7589520" y="15544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7" name="Text 19"/>
          <p:cNvSpPr/>
          <p:nvPr/>
        </p:nvSpPr>
        <p:spPr>
          <a:xfrm>
            <a:off x="7589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0" y="2194560"/>
            <a:ext cx="548640" cy="5486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94944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600" dirty="0"/>
          </a:p>
        </p:txBody>
      </p:sp>
      <p:sp>
        <p:nvSpPr>
          <p:cNvPr id="30" name="Text 21"/>
          <p:cNvSpPr/>
          <p:nvPr/>
        </p:nvSpPr>
        <p:spPr>
          <a:xfrm>
            <a:off x="7040880" y="3246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includes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"Source: pg. 42"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verification</a:t>
            </a:r>
            <a:endParaRPr lang="en-US" sz="1100" dirty="0"/>
          </a:p>
        </p:txBody>
      </p:sp>
      <p:sp>
        <p:nvSpPr>
          <p:cNvPr id="31" name="Shape 22"/>
          <p:cNvSpPr/>
          <p:nvPr/>
        </p:nvSpPr>
        <p:spPr>
          <a:xfrm>
            <a:off x="731520" y="4206240"/>
            <a:ext cx="7680960" cy="594360"/>
          </a:xfrm>
          <a:prstGeom prst="rect">
            <a:avLst/>
          </a:prstGeom>
          <a:solidFill>
            <a:srgbClr val="EEF2FF"/>
          </a:solidFill>
          <a:ln/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2976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1371600" y="420624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sees the full document — only the retrieved chunks. This is both the strength and the limitation of RAG.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Hallucination vs Grounding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RAG is non-negotiable for high-stakes enterprise use.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6576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54864" cy="201168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459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45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Hallucination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"The LD clause stipulates a penalty of 5%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week of delay, capped at 20%."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0584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confident. Completely wrong.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LD is 0.5%/week, capped at 10%.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463040"/>
            <a:ext cx="36576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463040"/>
            <a:ext cx="54864" cy="201168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645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 (RAG)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"The LD clause is 0.5% of contract price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week of delay, max 10%."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02920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(Source: pg. 42, Clause 14.2)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Verifiable. Trustworthy. Legally defensible.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31520" y="3749040"/>
            <a:ext cx="7680960" cy="1051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31520" y="3749040"/>
            <a:ext cx="768096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8" name="Text 14"/>
          <p:cNvSpPr/>
          <p:nvPr/>
        </p:nvSpPr>
        <p:spPr>
          <a:xfrm>
            <a:off x="1005840" y="38404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at Stake for Transrail?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005840" y="41605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LD percentage in a bid = millions in unexpected penalties.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payment milestone = cash flow crisis on a multi-year EPC project.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is not a curiosity — it's a business risk.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Tech Stack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components working together to build your RAG pipeline: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24688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54480"/>
            <a:ext cx="2468880" cy="54864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830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LangChain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9718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framework.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together: loader 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splitter → embedder 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 → LLM → output.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4688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74720" y="1554480"/>
            <a:ext cx="2468880" cy="54864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30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ChromaDB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611880" y="29718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vector database.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embeddings locally.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Open-source, easy to set up,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for workshops.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554480"/>
            <a:ext cx="24688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1554480"/>
            <a:ext cx="2468880" cy="54864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78308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179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LLM (GPT / Claude)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355080" y="29718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engine.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retrieved chunks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 → generates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cited answers.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31520" y="4526280"/>
            <a:ext cx="7680960" cy="411480"/>
          </a:xfrm>
          <a:prstGeom prst="rect">
            <a:avLst/>
          </a:prstGeom>
          <a:solidFill>
            <a:srgbClr val="EEF2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9028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25880" y="45262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open-source and free. Your RAG pipeline runs entirely on your machine.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Build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097280"/>
            <a:ext cx="6949440" cy="3474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7280" y="1097280"/>
            <a:ext cx="6949440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PGCIL 400kV Substation Tender v2.pdf — RAG Chat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1783080"/>
            <a:ext cx="5029200" cy="41148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7830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have ingested the tender document. What would you like to know?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17520" y="2377440"/>
            <a:ext cx="5029200" cy="41148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2377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exact LD clauses for project delays?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2971800"/>
            <a:ext cx="5943600" cy="8229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1" name="Text 9"/>
          <p:cNvSpPr/>
          <p:nvPr/>
        </p:nvSpPr>
        <p:spPr>
          <a:xfrm>
            <a:off x="1554480" y="2971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LD clause stipulates 0.5% of contract price per week of delay,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a maximum of 10%.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554480" y="3474720"/>
            <a:ext cx="2560320" cy="25603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34747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pg. 42, Clause 14.2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71600" y="4023360"/>
            <a:ext cx="54864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40233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 about the tender...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Citations: The HCI Secret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bidding manager cannot legally rely on AI — they must verify against the original.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36576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54480"/>
            <a:ext cx="3657600" cy="73152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783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Citation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2286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"The LD clause is 0.5% per week,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capped at 10%."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0584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thinks: "Is this right?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page? Which clause?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can't submit a bid on faith."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554480"/>
            <a:ext cx="36576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554480"/>
            <a:ext cx="3657600" cy="73152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7830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783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Clickable Citation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2286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"The LD clause is 0.5% per week,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capped at 10%."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212080" y="2834640"/>
            <a:ext cx="2926080" cy="3200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6" name="Text 12"/>
          <p:cNvSpPr/>
          <p:nvPr/>
        </p:nvSpPr>
        <p:spPr>
          <a:xfrm>
            <a:off x="5212080" y="2834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pg. 42, Clause 14.2  →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0" y="3246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→ opens the PDF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exact page for verification.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31520" y="4160520"/>
            <a:ext cx="7680960" cy="502920"/>
          </a:xfrm>
          <a:prstGeom prst="rect">
            <a:avLst/>
          </a:prstGeom>
          <a:solidFill>
            <a:srgbClr val="F0FDF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367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41605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Principle: Trust through verifiability. Every AI answer must link back to its source.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Mission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246888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00200" y="137160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16002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1031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the pipeline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the tender PDF,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with OpenAI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Sentence-BERT, store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ChromaDB.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2240280"/>
            <a:ext cx="274320" cy="274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566160" y="1188720"/>
            <a:ext cx="246888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34840" y="137160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8"/>
          <p:cNvSpPr/>
          <p:nvPr/>
        </p:nvSpPr>
        <p:spPr>
          <a:xfrm>
            <a:off x="44348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10312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6616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Wire up the chat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3703320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run_rag_pipeline()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LangChain. Query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+ generate with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LLM.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24028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400800" y="1188720"/>
            <a:ext cx="246888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269480" y="137160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9" name="Text 13"/>
          <p:cNvSpPr/>
          <p:nvPr/>
        </p:nvSpPr>
        <p:spPr>
          <a:xfrm>
            <a:off x="72694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103120"/>
            <a:ext cx="548640" cy="5486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0080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citations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6537960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every answer to include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"Source: pg. X, Clause Y."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a clickable link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original PDF page.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FFFBEB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462272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25880" y="43891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Ask "What are the LD clauses?" and "What are the payment milestones?" — verify against the PDF.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Don't let the LLM guess.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 it in documents.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 citations.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bidding manager cannot legally rely on AI. Clickable citations that link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the original PDF page make AI answers verifiable and trustworthy.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3657600" cy="640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9319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38404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eliminates hallucination risk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3840480"/>
            <a:ext cx="3657600" cy="640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93192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38404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build trust and legal safety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0" y="4594860"/>
            <a:ext cx="9144000" cy="5486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2" name="Text 8"/>
          <p:cNvSpPr/>
          <p:nvPr/>
        </p:nvSpPr>
        <p:spPr>
          <a:xfrm>
            <a:off x="731520" y="45948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Task 5 — Structured Output: WhatsApp-to-ERP Translator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4: RAG — The 1,000-Page Tender Interrogator</dc:title>
  <dc:subject>PptxGenJS Presentation</dc:subject>
  <dc:creator>Tony — Transrail AI Workshop</dc:creator>
  <cp:lastModifiedBy>Tony — Transrail AI Workshop</cp:lastModifiedBy>
  <cp:revision>1</cp:revision>
  <dcterms:created xsi:type="dcterms:W3CDTF">2026-03-11T22:24:03Z</dcterms:created>
  <dcterms:modified xsi:type="dcterms:W3CDTF">2026-03-11T22:24:03Z</dcterms:modified>
</cp:coreProperties>
</file>