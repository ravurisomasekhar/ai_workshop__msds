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ZTQL6SdkoReAF7kYvTyiFl8oR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PHASE 1 — FOUNDATIONAL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Visioning &amp; HCI Design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148843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The 'Gloves-On' Field Co-Pilot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Designing for trust when AI is uncertain.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Transrail AI Workshop  |  March 13–14, 2026  |  Task 2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Real-World Challenge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Site supervisors log delays and hazards on rugged tablets.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31520" y="173736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19659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731520" y="27432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Dirty Hands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31546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Gloves, grease, rain — typing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 not an option on-site.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0" y="173736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9659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Complex ERPs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0" y="31546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SAP forms with 30+ fields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designed for desktop office use.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17920" y="173736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0880" y="19659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6217920" y="27432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Fatigue &amp;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0" y="31546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12-hour shifts at 40m height.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Cognitive load must be minimal.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The interface must meet the worker where they are — not the other way around.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Why AI Interfaces Are Different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31520" y="1188720"/>
            <a:ext cx="365760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005840" y="14630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rPr>
              <a:t>Traditional Software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005840" y="210312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Click button → exact result, every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Errors are bugs to be fixed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trusts the output implicitly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 fields with dropdown menus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754880" y="1188720"/>
            <a:ext cx="3657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029200" y="14630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6366F1"/>
                </a:solidFill>
                <a:latin typeface="Trebuchet MS"/>
                <a:ea typeface="Trebuchet MS"/>
                <a:cs typeface="Trebuchet MS"/>
                <a:sym typeface="Trebuchet MS"/>
              </a:rPr>
              <a:t>AI-Powered Software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029200" y="210312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Speak → probabilistic interpretation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"Mistakes" are inherent, not bugs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must verify before trusting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Voice, vision, natural language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31520" y="4572000"/>
            <a:ext cx="76809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is probabilistic. This fundamentally changes how we design interfaces.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Four Pillars of AI Interface Design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1097280"/>
            <a:ext cx="192024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457200" y="2148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HITL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9436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Human-in-the-Loop: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 humans as the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final decision-maker.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06040" y="1097280"/>
            <a:ext cx="192024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12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2606040" y="2148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Graceful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Degradation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74320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Plan for AI failure.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 fallbacks that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don't block the user.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754880" y="1097280"/>
            <a:ext cx="192024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496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4754880" y="2148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6366F1"/>
                </a:solidFill>
                <a:latin typeface="Trebuchet MS"/>
                <a:ea typeface="Trebuchet MS"/>
                <a:cs typeface="Trebuchet MS"/>
                <a:sym typeface="Trebuchet MS"/>
              </a:rPr>
              <a:t>Verifiability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89204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Show the AI's 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Let users see what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AI "heard" or "saw".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903720" y="1097280"/>
            <a:ext cx="192024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380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6903720" y="2148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Agency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04088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user stays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control. Never auto-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submit without consent.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Human-in-the-Loop (HITL)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human is the final authority. AI proposes, human disposes.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31520" y="1645920"/>
            <a:ext cx="2468880" cy="256032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1645920" y="18288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6459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423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731520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AI Listens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14400" y="35204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Voice transcription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captures field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2606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3566160" y="1645920"/>
            <a:ext cx="2468880" cy="256032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480560" y="18288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4805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2423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3566160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AI Shows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749040" y="35204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Explainability card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displays interpretation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2606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6400800" y="1645920"/>
            <a:ext cx="2468880" cy="256032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315200" y="18288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3152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9480" y="2423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6400800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Human Approves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583680" y="35204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Massive 'Approve' button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 any ERP sync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44988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1371600" y="44348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Never save to the database until the human has seen and approved the AI's interpretation.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Graceful Degradation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happens when the AI gets it wrong? Plan for failure.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731520" y="1554480"/>
            <a:ext cx="73152" cy="1280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051560" y="164592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Scenario: Jargon Mishearing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51560" y="20574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Supervisor says: </a:t>
            </a: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"HTLS conductor delayed at tower 45"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51560" y="242316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hears: </a:t>
            </a: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"Hoteless conductor delayed at tower 45"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31520" y="306324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31520" y="306324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005840" y="3246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Bad: Force keyboard correction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05840" y="36118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Worker removes gloves, tries to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"HTLS" on a tiny keyboard in the rain.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Frustration → abandons the app.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754880" y="306324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754880" y="3063240"/>
            <a:ext cx="3657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029200" y="3246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Good: Tap-to-correct jargon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029200" y="36118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Quick-select dropdown of Transrail terms.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tap: "Hoteless" → "HTLS".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typing. No glove removal.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Verifiability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Show the AI's work. Let users see what the AI understood.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371600" y="1554480"/>
            <a:ext cx="640080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371600" y="1554480"/>
            <a:ext cx="640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16276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920240" y="1554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Explainability Card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645920" y="21031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AI heard: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"Locals stopped work at tower 45. Delay: 3 hours.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Reason: Right-of-Way dispute with landowner."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645920" y="29718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Mapped to ERP fields: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Location: Tower 45  |  Delay: 3h  |  Type: ROW Dispute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0" y="3657600"/>
            <a:ext cx="24688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029200" y="3657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&amp; Sync to ERP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The supervisor sees exactly what the AI interpreted before it ever touches SAP.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Agency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user is always in control. AI assists, never overrides.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31520" y="1554480"/>
            <a:ext cx="24688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731520" y="1554480"/>
            <a:ext cx="73152" cy="2560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7830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73152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Never auto-submit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914400" y="29260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data reaches ERP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explicit human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tap on 'Approve'.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474720" y="1554480"/>
            <a:ext cx="24688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474720" y="1554480"/>
            <a:ext cx="73152" cy="2560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7830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Always allow undo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657600" y="29260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Supervisor can re-record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voice, re-snap photo,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 edit any field.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217920" y="1554480"/>
            <a:ext cx="24688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217920" y="1554480"/>
            <a:ext cx="73152" cy="2560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6600" y="17830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Override is sacred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00800" y="29260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AI maps to wrong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ERP code, human can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correct with one tap.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005840" y="438912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Anti-pattern: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silently auto-submits "3 hours delay" to SAP because confidence was 95%. The supervisor never saw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Voice-and-Vision-First Design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 typing. Two inputs only: speak and snap.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31520" y="1463040"/>
            <a:ext cx="3657600" cy="2743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840" y="16916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731520" y="2560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Tap to Speak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005840" y="30175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"Locals stopped work at tower 45.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Delay: 3 hours. ROW dispute."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005840" y="3657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One massive button — no menus,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 forms, no keyboard.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754880" y="1463040"/>
            <a:ext cx="3657600" cy="2743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6916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4754880" y="2560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6366F1"/>
                </a:solidFill>
                <a:latin typeface="Trebuchet MS"/>
                <a:ea typeface="Trebuchet MS"/>
                <a:cs typeface="Trebuchet MS"/>
                <a:sym typeface="Trebuchet MS"/>
              </a:rPr>
              <a:t>Snap Photo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029200" y="30175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Capture site conditions, damage,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 progress as visual evidence.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029200" y="3657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Photo becomes structured data 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AI extracts context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Audio &amp; Speech in the Field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Voice is the most natural interface. On a construction site, it's often the only safe one.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731520" y="137160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73152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Speech 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14400" y="260604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Voice commands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Field status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Hands-free logging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Multilingual dictation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120" y="24231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3566160" y="137160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3566160" y="137160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356616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AI 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749040" y="260604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Speech-to-Text (Whisper)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Jargon correction (HTLS,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ACRS, OHE, PGCIL)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Intent extraction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760" y="24231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6400800" y="137160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400800" y="1371600"/>
            <a:ext cx="24688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948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640080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Trebuchet MS"/>
                <a:ea typeface="Trebuchet MS"/>
                <a:cs typeface="Trebuchet MS"/>
                <a:sym typeface="Trebuchet MS"/>
              </a:rPr>
              <a:t>Audio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583680" y="260604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Voice confirmations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Safety alerts via 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Text-to-Speech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Multilingual responses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1325880" y="41605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"Locals stopped stringing work at tower 47 due to rain" → AI parses location, activity, delay cause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31520" y="4663440"/>
            <a:ext cx="76809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7365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1325880" y="4663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Design principle: if a worker is wearing gloves, at height, or in a noisy yard — voice beats keyboard every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Your Mission: Design Sprint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Zero code. We will use v0.dev to generate a working prototype.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731520" y="1554480"/>
            <a:ext cx="24688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600200" y="173736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160020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31520" y="2423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Open v0.dev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914400" y="2834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Navigate to v0.dev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create a free account.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2468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/>
          <p:nvPr/>
        </p:nvSpPr>
        <p:spPr>
          <a:xfrm>
            <a:off x="3566160" y="1554480"/>
            <a:ext cx="24688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434840" y="173736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43484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566160" y="2423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Paste the Prompt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749040" y="2834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Copy our field co-pilot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prompt into v0.dev.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2468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/>
          <p:nvPr/>
        </p:nvSpPr>
        <p:spPr>
          <a:xfrm>
            <a:off x="6400800" y="1554480"/>
            <a:ext cx="24688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7269480" y="173736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726948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400800" y="2423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Iterate &amp; 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583680" y="2834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Refine the design.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Role-play with a partner.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4297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1417320" y="420624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v0.dev by Vercel</a:t>
            </a: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An AI tool that generates production-ready React UI from a text prompt. No coding needed.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Magic Prompt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Copy this into v0.dev and watch the AI build your interface: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1005840" y="1508760"/>
            <a:ext cx="71323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Create a rugged tablet UI for a high-voltage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transmission line construction worker.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The interface must be "Voice-and-Vision-first".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1. Disable/hide the keyboard.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2. One massive "Tap to Speak" mic button (orange).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3. Large "Snap Photo" camera button.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4. "Explainability Card" showing AI transcription.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5. Massive green "Approve &amp; Sync to ERP" button.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6. Dark mode, heavy-duty industrial aesthetic.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Feel free to modify this prompt to add your own creative flair!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Iterate &amp; Experience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31520" y="1188720"/>
            <a:ext cx="2468880" cy="301752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Challenge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73152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Watch the AI 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914400" y="219456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Observe v0 generate the UI in real-time.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Notice the component hierarchy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design decisions the AI makes.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3566160" y="1188720"/>
            <a:ext cx="2468880" cy="3017520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566160" y="1371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Challenge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56616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Break It (Jargon Test)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749040" y="219456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if AI mishears "HTLS conductor"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"Hoteless conductor"?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does the user fix it without typing?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400800" y="1188720"/>
            <a:ext cx="2468880" cy="301752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6400800" y="1371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Challenge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40080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Repair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583680" y="219456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Ask v0: "Add a quick-select dropdown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Transrail jargon next to the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transcription for tap-to-correct."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5079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/>
          <p:nvPr/>
        </p:nvSpPr>
        <p:spPr>
          <a:xfrm>
            <a:off x="1325880" y="44348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Role-play: Present the prototype to a teammate. Ask them to "log a delay" and correct a jargon mistake.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By making the 'Approve' button massive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and showing the AI's transcription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before saving to the database, you build trust.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73152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3246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4"/>
          <p:cNvSpPr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HITL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283464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3246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4"/>
          <p:cNvSpPr/>
          <p:nvPr/>
        </p:nvSpPr>
        <p:spPr>
          <a:xfrm>
            <a:off x="2834640" y="3794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Graceful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Degradation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93776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2120" y="3246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/>
          <p:nvPr/>
        </p:nvSpPr>
        <p:spPr>
          <a:xfrm>
            <a:off x="4937760" y="3794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Verifiability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704088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5240" y="3246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7040880" y="3794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Agency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Next: Task 3 — Vision AI: Drone-Based Quality &amp; Safety Spotter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2026-03-11T23:58:06Z</dcterms:created>
  <dc:creator>Tony — Transrail AI Workshop</dc:creator>
</cp:coreProperties>
</file>