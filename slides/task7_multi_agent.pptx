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548640"/>
            <a:ext cx="7315200" cy="365760"/>
          </a:xfrm>
          <a:prstGeom prst="rect">
            <a:avLst/>
          </a:prstGeom>
          <a:noFill/>
          <a:ln/>
        </p:spPr>
        <p:txBody>
          <a:bodyPr wrap="square" lIns="0" tIns="0" rIns="0" bIns="0" rtlCol="0" anchor="ctr"/>
          <a:lstStyle/>
          <a:p>
            <a:pPr indent="0" marL="0">
              <a:buNone/>
            </a:pPr>
            <a:r>
              <a:rPr lang="en-US" sz="1200" b="1" spc="400" kern="0" dirty="0">
                <a:solidFill>
                  <a:srgbClr val="A5B4FC"/>
                </a:solidFill>
                <a:latin typeface="Calibri" pitchFamily="34" charset="0"/>
                <a:ea typeface="Calibri" pitchFamily="34" charset="-122"/>
                <a:cs typeface="Calibri" pitchFamily="34" charset="-120"/>
              </a:rPr>
              <a:t>PHASE 3 — AGENTIC AI</a:t>
            </a:r>
            <a:endParaRPr lang="en-US" sz="1200" dirty="0"/>
          </a:p>
        </p:txBody>
      </p:sp>
      <p:sp>
        <p:nvSpPr>
          <p:cNvPr id="3" name="Text 1"/>
          <p:cNvSpPr/>
          <p:nvPr/>
        </p:nvSpPr>
        <p:spPr>
          <a:xfrm>
            <a:off x="731520" y="1097280"/>
            <a:ext cx="6400800" cy="91440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Multi-Agent AI</a:t>
            </a:r>
            <a:endParaRPr lang="en-US" sz="4400" dirty="0"/>
          </a:p>
        </p:txBody>
      </p:sp>
      <p:sp>
        <p:nvSpPr>
          <p:cNvPr id="4" name="Text 2"/>
          <p:cNvSpPr/>
          <p:nvPr/>
        </p:nvSpPr>
        <p:spPr>
          <a:xfrm>
            <a:off x="731520" y="2011680"/>
            <a:ext cx="6400800" cy="548640"/>
          </a:xfrm>
          <a:prstGeom prst="rect">
            <a:avLst/>
          </a:prstGeom>
          <a:noFill/>
          <a:ln/>
        </p:spPr>
        <p:txBody>
          <a:bodyPr wrap="square" lIns="0" tIns="0" rIns="0" bIns="0" rtlCol="0" anchor="ctr"/>
          <a:lstStyle/>
          <a:p>
            <a:pPr indent="0" marL="0">
              <a:buNone/>
            </a:pPr>
            <a:r>
              <a:rPr lang="en-US" sz="2000" b="1" dirty="0">
                <a:solidFill>
                  <a:srgbClr val="F97316"/>
                </a:solidFill>
                <a:latin typeface="Calibri" pitchFamily="34" charset="0"/>
                <a:ea typeface="Calibri" pitchFamily="34" charset="-122"/>
                <a:cs typeface="Calibri" pitchFamily="34" charset="-120"/>
              </a:rPr>
              <a:t>The Mock EPC Bid Syndicate</a:t>
            </a:r>
            <a:endParaRPr lang="en-US" sz="2000" dirty="0"/>
          </a:p>
        </p:txBody>
      </p:sp>
      <p:sp>
        <p:nvSpPr>
          <p:cNvPr id="5" name="Text 3"/>
          <p:cNvSpPr/>
          <p:nvPr/>
        </p:nvSpPr>
        <p:spPr>
          <a:xfrm>
            <a:off x="731520" y="2834640"/>
            <a:ext cx="6400800" cy="45720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When one agent isn't enough — orchestrate a team.</a:t>
            </a:r>
            <a:endParaRPr lang="en-US" sz="1600" dirty="0"/>
          </a:p>
        </p:txBody>
      </p:sp>
      <p:pic>
        <p:nvPicPr>
          <p:cNvPr id="6" name="Image 0" descr="preencoded.png">    </p:cNvPr>
          <p:cNvPicPr>
            <a:picLocks noChangeAspect="1"/>
          </p:cNvPicPr>
          <p:nvPr/>
        </p:nvPicPr>
        <p:blipFill>
          <a:blip r:embed="rId1"/>
          <a:stretch>
            <a:fillRect/>
          </a:stretch>
        </p:blipFill>
        <p:spPr>
          <a:xfrm>
            <a:off x="7132320" y="914400"/>
            <a:ext cx="1645920" cy="1645920"/>
          </a:xfrm>
          <a:prstGeom prst="rect">
            <a:avLst/>
          </a:prstGeom>
        </p:spPr>
      </p:pic>
      <p:sp>
        <p:nvSpPr>
          <p:cNvPr id="7" name="Shape 4"/>
          <p:cNvSpPr/>
          <p:nvPr/>
        </p:nvSpPr>
        <p:spPr>
          <a:xfrm>
            <a:off x="0" y="4594860"/>
            <a:ext cx="9144000" cy="548640"/>
          </a:xfrm>
          <a:prstGeom prst="rect">
            <a:avLst/>
          </a:prstGeom>
          <a:solidFill>
            <a:srgbClr val="6366F1"/>
          </a:solidFill>
          <a:ln/>
        </p:spPr>
      </p:sp>
      <p:sp>
        <p:nvSpPr>
          <p:cNvPr id="8" name="Text 5"/>
          <p:cNvSpPr/>
          <p:nvPr/>
        </p:nvSpPr>
        <p:spPr>
          <a:xfrm>
            <a:off x="731520" y="4594860"/>
            <a:ext cx="768096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Transrail AI Workshop  |  March 13–14, 2026  |  Task 7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The Bidding Challenge</a:t>
            </a:r>
            <a:endParaRPr lang="en-US" sz="3600" dirty="0"/>
          </a:p>
        </p:txBody>
      </p:sp>
      <p:sp>
        <p:nvSpPr>
          <p:cNvPr id="3" name="Text 1"/>
          <p:cNvSpPr/>
          <p:nvPr/>
        </p:nvSpPr>
        <p:spPr>
          <a:xfrm>
            <a:off x="731520" y="1051560"/>
            <a:ext cx="7680960" cy="36576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 winning substation bid needs cross-functional expertise that no single person — or agent — has.</a:t>
            </a:r>
            <a:endParaRPr lang="en-US" sz="1600" dirty="0"/>
          </a:p>
        </p:txBody>
      </p:sp>
      <p:sp>
        <p:nvSpPr>
          <p:cNvPr id="4" name="Shape 2"/>
          <p:cNvSpPr/>
          <p:nvPr/>
        </p:nvSpPr>
        <p:spPr>
          <a:xfrm>
            <a:off x="731520" y="1737360"/>
            <a:ext cx="2468880" cy="2560320"/>
          </a:xfrm>
          <a:prstGeom prst="rect">
            <a:avLst/>
          </a:prstGeom>
          <a:solidFill>
            <a:srgbClr val="1E293B"/>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1554480" y="1965960"/>
            <a:ext cx="640080" cy="640080"/>
          </a:xfrm>
          <a:prstGeom prst="rect">
            <a:avLst/>
          </a:prstGeom>
        </p:spPr>
      </p:pic>
      <p:sp>
        <p:nvSpPr>
          <p:cNvPr id="6" name="Text 3"/>
          <p:cNvSpPr/>
          <p:nvPr/>
        </p:nvSpPr>
        <p:spPr>
          <a:xfrm>
            <a:off x="731520" y="2743200"/>
            <a:ext cx="2468880" cy="365760"/>
          </a:xfrm>
          <a:prstGeom prst="rect">
            <a:avLst/>
          </a:prstGeom>
          <a:noFill/>
          <a:ln/>
        </p:spPr>
        <p:txBody>
          <a:bodyPr wrap="square" lIns="0" tIns="0" rIns="0" bIns="0" rtlCol="0" anchor="ctr"/>
          <a:lstStyle/>
          <a:p>
            <a:pPr algn="ctr" indent="0" marL="0">
              <a:buNone/>
            </a:pPr>
            <a:r>
              <a:rPr lang="en-US" sz="1600" b="1" dirty="0">
                <a:solidFill>
                  <a:srgbClr val="3B82F6"/>
                </a:solidFill>
                <a:latin typeface="Trebuchet MS" pitchFamily="34" charset="0"/>
                <a:ea typeface="Trebuchet MS" pitchFamily="34" charset="-122"/>
                <a:cs typeface="Trebuchet MS" pitchFamily="34" charset="-120"/>
              </a:rPr>
              <a:t>Engineering</a:t>
            </a:r>
            <a:endParaRPr lang="en-US" sz="1600" dirty="0"/>
          </a:p>
        </p:txBody>
      </p:sp>
      <p:sp>
        <p:nvSpPr>
          <p:cNvPr id="7" name="Text 4"/>
          <p:cNvSpPr/>
          <p:nvPr/>
        </p:nvSpPr>
        <p:spPr>
          <a:xfrm>
            <a:off x="914400" y="3154680"/>
            <a:ext cx="2103120" cy="9144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Read the SOW, extract</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material quantities,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flag technical risks.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Needs domain expertise.</a:t>
            </a:r>
            <a:endParaRPr lang="en-US" sz="1200" dirty="0"/>
          </a:p>
        </p:txBody>
      </p:sp>
      <p:sp>
        <p:nvSpPr>
          <p:cNvPr id="8" name="Shape 5"/>
          <p:cNvSpPr/>
          <p:nvPr/>
        </p:nvSpPr>
        <p:spPr>
          <a:xfrm>
            <a:off x="3474720" y="1737360"/>
            <a:ext cx="2468880" cy="2560320"/>
          </a:xfrm>
          <a:prstGeom prst="rect">
            <a:avLst/>
          </a:prstGeom>
          <a:solidFill>
            <a:srgbClr val="1E293B"/>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4297680" y="1965960"/>
            <a:ext cx="640080" cy="640080"/>
          </a:xfrm>
          <a:prstGeom prst="rect">
            <a:avLst/>
          </a:prstGeom>
        </p:spPr>
      </p:pic>
      <p:sp>
        <p:nvSpPr>
          <p:cNvPr id="10" name="Text 6"/>
          <p:cNvSpPr/>
          <p:nvPr/>
        </p:nvSpPr>
        <p:spPr>
          <a:xfrm>
            <a:off x="3474720" y="2743200"/>
            <a:ext cx="2468880" cy="365760"/>
          </a:xfrm>
          <a:prstGeom prst="rect">
            <a:avLst/>
          </a:prstGeom>
          <a:noFill/>
          <a:ln/>
        </p:spPr>
        <p:txBody>
          <a:bodyPr wrap="square" lIns="0" tIns="0" rIns="0" bIns="0" rtlCol="0" anchor="ctr"/>
          <a:lstStyle/>
          <a:p>
            <a:pPr algn="ctr" indent="0" marL="0">
              <a:buNone/>
            </a:pPr>
            <a:r>
              <a:rPr lang="en-US" sz="1600" b="1" dirty="0">
                <a:solidFill>
                  <a:srgbClr val="F59E0B"/>
                </a:solidFill>
                <a:latin typeface="Trebuchet MS" pitchFamily="34" charset="0"/>
                <a:ea typeface="Trebuchet MS" pitchFamily="34" charset="-122"/>
                <a:cs typeface="Trebuchet MS" pitchFamily="34" charset="-120"/>
              </a:rPr>
              <a:t>Procurement</a:t>
            </a:r>
            <a:endParaRPr lang="en-US" sz="1600" dirty="0"/>
          </a:p>
        </p:txBody>
      </p:sp>
      <p:sp>
        <p:nvSpPr>
          <p:cNvPr id="11" name="Text 7"/>
          <p:cNvSpPr/>
          <p:nvPr/>
        </p:nvSpPr>
        <p:spPr>
          <a:xfrm>
            <a:off x="3657600" y="3154680"/>
            <a:ext cx="2103120" cy="9144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Price the materials,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check supplier lead times,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flag supply chain risks.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Needs market knowledge.</a:t>
            </a:r>
            <a:endParaRPr lang="en-US" sz="1200" dirty="0"/>
          </a:p>
        </p:txBody>
      </p:sp>
      <p:sp>
        <p:nvSpPr>
          <p:cNvPr id="12" name="Shape 8"/>
          <p:cNvSpPr/>
          <p:nvPr/>
        </p:nvSpPr>
        <p:spPr>
          <a:xfrm>
            <a:off x="6217920" y="1737360"/>
            <a:ext cx="2468880" cy="2560320"/>
          </a:xfrm>
          <a:prstGeom prst="rect">
            <a:avLst/>
          </a:prstGeom>
          <a:solidFill>
            <a:srgbClr val="1E293B"/>
          </a:solidFill>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7040880" y="1965960"/>
            <a:ext cx="640080" cy="640080"/>
          </a:xfrm>
          <a:prstGeom prst="rect">
            <a:avLst/>
          </a:prstGeom>
        </p:spPr>
      </p:pic>
      <p:sp>
        <p:nvSpPr>
          <p:cNvPr id="14" name="Text 9"/>
          <p:cNvSpPr/>
          <p:nvPr/>
        </p:nvSpPr>
        <p:spPr>
          <a:xfrm>
            <a:off x="6217920" y="2743200"/>
            <a:ext cx="2468880" cy="365760"/>
          </a:xfrm>
          <a:prstGeom prst="rect">
            <a:avLst/>
          </a:prstGeom>
          <a:noFill/>
          <a:ln/>
        </p:spPr>
        <p:txBody>
          <a:bodyPr wrap="square" lIns="0" tIns="0" rIns="0" bIns="0" rtlCol="0" anchor="ctr"/>
          <a:lstStyle/>
          <a:p>
            <a:pPr algn="ctr" indent="0" marL="0">
              <a:buNone/>
            </a:pPr>
            <a:r>
              <a:rPr lang="en-US" sz="1600" b="1" dirty="0">
                <a:solidFill>
                  <a:srgbClr val="10B981"/>
                </a:solidFill>
                <a:latin typeface="Trebuchet MS" pitchFamily="34" charset="0"/>
                <a:ea typeface="Trebuchet MS" pitchFamily="34" charset="-122"/>
                <a:cs typeface="Trebuchet MS" pitchFamily="34" charset="-120"/>
              </a:rPr>
              <a:t>Commercial</a:t>
            </a:r>
            <a:endParaRPr lang="en-US" sz="1600" dirty="0"/>
          </a:p>
        </p:txBody>
      </p:sp>
      <p:sp>
        <p:nvSpPr>
          <p:cNvPr id="15" name="Text 10"/>
          <p:cNvSpPr/>
          <p:nvPr/>
        </p:nvSpPr>
        <p:spPr>
          <a:xfrm>
            <a:off x="6400800" y="3154680"/>
            <a:ext cx="2103120" cy="9144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Add margin and risk buffers,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balance competitiveness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vs profitability, draft</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the final bid letter.</a:t>
            </a:r>
            <a:endParaRPr lang="en-US" sz="1200" dirty="0"/>
          </a:p>
        </p:txBody>
      </p:sp>
      <p:sp>
        <p:nvSpPr>
          <p:cNvPr id="16" name="Text 11"/>
          <p:cNvSpPr/>
          <p:nvPr/>
        </p:nvSpPr>
        <p:spPr>
          <a:xfrm>
            <a:off x="731520" y="4572000"/>
            <a:ext cx="7680960" cy="365760"/>
          </a:xfrm>
          <a:prstGeom prst="rect">
            <a:avLst/>
          </a:prstGeom>
          <a:noFill/>
          <a:ln/>
        </p:spPr>
        <p:txBody>
          <a:bodyPr wrap="square" lIns="0" tIns="0" rIns="0" bIns="0" rtlCol="0" anchor="ctr"/>
          <a:lstStyle/>
          <a:p>
            <a:pPr indent="0" marL="0">
              <a:buNone/>
            </a:pPr>
            <a:r>
              <a:rPr lang="en-US" sz="1300" i="1" dirty="0">
                <a:solidFill>
                  <a:srgbClr val="A5B4FC"/>
                </a:solidFill>
                <a:latin typeface="Calibri" pitchFamily="34" charset="0"/>
                <a:ea typeface="Calibri" pitchFamily="34" charset="-122"/>
                <a:cs typeface="Calibri" pitchFamily="34" charset="-120"/>
              </a:rPr>
              <a:t>What if each role were an AI agent — and they could collaborate, hand off data, and produce the bid together?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3600" b="1" dirty="0">
                <a:solidFill>
                  <a:srgbClr val="1E293B"/>
                </a:solidFill>
                <a:latin typeface="Trebuchet MS" pitchFamily="34" charset="0"/>
                <a:ea typeface="Trebuchet MS" pitchFamily="34" charset="-122"/>
                <a:cs typeface="Trebuchet MS" pitchFamily="34" charset="-120"/>
              </a:rPr>
              <a:t>Why Multiple Agents?</a:t>
            </a:r>
            <a:endParaRPr lang="en-US" sz="3600" dirty="0"/>
          </a:p>
        </p:txBody>
      </p:sp>
      <p:sp>
        <p:nvSpPr>
          <p:cNvPr id="3" name="Text 1"/>
          <p:cNvSpPr/>
          <p:nvPr/>
        </p:nvSpPr>
        <p:spPr>
          <a:xfrm>
            <a:off x="731520" y="914400"/>
            <a:ext cx="768096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One generalist agent struggles with complex, multi-domain problems. Specialization wins.</a:t>
            </a:r>
            <a:endParaRPr lang="en-US" sz="1600" dirty="0"/>
          </a:p>
        </p:txBody>
      </p:sp>
      <p:sp>
        <p:nvSpPr>
          <p:cNvPr id="4" name="Shape 2"/>
          <p:cNvSpPr/>
          <p:nvPr/>
        </p:nvSpPr>
        <p:spPr>
          <a:xfrm>
            <a:off x="731520" y="1554480"/>
            <a:ext cx="365760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554480"/>
            <a:ext cx="3657600" cy="73152"/>
          </a:xfrm>
          <a:prstGeom prst="rect">
            <a:avLst/>
          </a:prstGeom>
          <a:solidFill>
            <a:srgbClr val="64748B"/>
          </a:solidFill>
          <a:ln/>
        </p:spPr>
      </p:sp>
      <p:pic>
        <p:nvPicPr>
          <p:cNvPr id="6" name="Image 0" descr="preencoded.png">    </p:cNvPr>
          <p:cNvPicPr>
            <a:picLocks noChangeAspect="1"/>
          </p:cNvPicPr>
          <p:nvPr/>
        </p:nvPicPr>
        <p:blipFill>
          <a:blip r:embed="rId1"/>
          <a:stretch>
            <a:fillRect/>
          </a:stretch>
        </p:blipFill>
        <p:spPr>
          <a:xfrm>
            <a:off x="1005840" y="1783080"/>
            <a:ext cx="457200" cy="457200"/>
          </a:xfrm>
          <a:prstGeom prst="rect">
            <a:avLst/>
          </a:prstGeom>
        </p:spPr>
      </p:pic>
      <p:sp>
        <p:nvSpPr>
          <p:cNvPr id="7" name="Text 4"/>
          <p:cNvSpPr/>
          <p:nvPr/>
        </p:nvSpPr>
        <p:spPr>
          <a:xfrm>
            <a:off x="1600200" y="1783080"/>
            <a:ext cx="2560320" cy="457200"/>
          </a:xfrm>
          <a:prstGeom prst="rect">
            <a:avLst/>
          </a:prstGeom>
          <a:noFill/>
          <a:ln/>
        </p:spPr>
        <p:txBody>
          <a:bodyPr wrap="square" lIns="0" tIns="0" rIns="0" bIns="0" rtlCol="0" anchor="ctr"/>
          <a:lstStyle/>
          <a:p>
            <a:pPr indent="0" marL="0">
              <a:buNone/>
            </a:pPr>
            <a:r>
              <a:rPr lang="en-US" sz="1800" b="1" dirty="0">
                <a:solidFill>
                  <a:srgbClr val="64748B"/>
                </a:solidFill>
                <a:latin typeface="Trebuchet MS" pitchFamily="34" charset="0"/>
                <a:ea typeface="Trebuchet MS" pitchFamily="34" charset="-122"/>
                <a:cs typeface="Trebuchet MS" pitchFamily="34" charset="-120"/>
              </a:rPr>
              <a:t>Task 6: Single Agent</a:t>
            </a:r>
            <a:endParaRPr lang="en-US" sz="1800" dirty="0"/>
          </a:p>
        </p:txBody>
      </p:sp>
      <p:sp>
        <p:nvSpPr>
          <p:cNvPr id="8" name="Text 5"/>
          <p:cNvSpPr/>
          <p:nvPr/>
        </p:nvSpPr>
        <p:spPr>
          <a:xfrm>
            <a:off x="1005840" y="2377440"/>
            <a:ext cx="3108960" cy="14630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One agent, many tools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Good for linear workflows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Struggles with competing priorities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One prompt = one perspective</a:t>
            </a:r>
            <a:endParaRPr lang="en-US" sz="1300" dirty="0"/>
          </a:p>
        </p:txBody>
      </p:sp>
      <p:sp>
        <p:nvSpPr>
          <p:cNvPr id="9" name="Shape 6"/>
          <p:cNvSpPr/>
          <p:nvPr/>
        </p:nvSpPr>
        <p:spPr>
          <a:xfrm>
            <a:off x="4754880" y="1554480"/>
            <a:ext cx="365760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754880" y="1554480"/>
            <a:ext cx="3657600" cy="73152"/>
          </a:xfrm>
          <a:prstGeom prst="rect">
            <a:avLst/>
          </a:prstGeom>
          <a:solidFill>
            <a:srgbClr val="6366F1"/>
          </a:solidFill>
          <a:ln/>
        </p:spPr>
      </p:sp>
      <p:pic>
        <p:nvPicPr>
          <p:cNvPr id="11" name="Image 1" descr="preencoded.png">    </p:cNvPr>
          <p:cNvPicPr>
            <a:picLocks noChangeAspect="1"/>
          </p:cNvPicPr>
          <p:nvPr/>
        </p:nvPicPr>
        <p:blipFill>
          <a:blip r:embed="rId2"/>
          <a:stretch>
            <a:fillRect/>
          </a:stretch>
        </p:blipFill>
        <p:spPr>
          <a:xfrm>
            <a:off x="5029200" y="1783080"/>
            <a:ext cx="457200" cy="457200"/>
          </a:xfrm>
          <a:prstGeom prst="rect">
            <a:avLst/>
          </a:prstGeom>
        </p:spPr>
      </p:pic>
      <p:sp>
        <p:nvSpPr>
          <p:cNvPr id="12" name="Text 8"/>
          <p:cNvSpPr/>
          <p:nvPr/>
        </p:nvSpPr>
        <p:spPr>
          <a:xfrm>
            <a:off x="5623560" y="1783080"/>
            <a:ext cx="2560320" cy="457200"/>
          </a:xfrm>
          <a:prstGeom prst="rect">
            <a:avLst/>
          </a:prstGeom>
          <a:noFill/>
          <a:ln/>
        </p:spPr>
        <p:txBody>
          <a:bodyPr wrap="square" lIns="0" tIns="0" rIns="0" bIns="0" rtlCol="0" anchor="ctr"/>
          <a:lstStyle/>
          <a:p>
            <a:pPr indent="0" marL="0">
              <a:buNone/>
            </a:pPr>
            <a:r>
              <a:rPr lang="en-US" sz="1800" b="1" dirty="0">
                <a:solidFill>
                  <a:srgbClr val="6366F1"/>
                </a:solidFill>
                <a:latin typeface="Trebuchet MS" pitchFamily="34" charset="0"/>
                <a:ea typeface="Trebuchet MS" pitchFamily="34" charset="-122"/>
                <a:cs typeface="Trebuchet MS" pitchFamily="34" charset="-120"/>
              </a:rPr>
              <a:t>Task 7: Multi-Agent</a:t>
            </a:r>
            <a:endParaRPr lang="en-US" sz="1800" dirty="0"/>
          </a:p>
        </p:txBody>
      </p:sp>
      <p:sp>
        <p:nvSpPr>
          <p:cNvPr id="13" name="Text 9"/>
          <p:cNvSpPr/>
          <p:nvPr/>
        </p:nvSpPr>
        <p:spPr>
          <a:xfrm>
            <a:off x="5029200" y="2377440"/>
            <a:ext cx="3108960" cy="14630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Specialized agents collaborate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Each has a role, goal, backstory</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Agents pass context sequentially</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Multiple perspectives = richer output</a:t>
            </a:r>
            <a:endParaRPr lang="en-US" sz="1300" dirty="0"/>
          </a:p>
        </p:txBody>
      </p:sp>
      <p:sp>
        <p:nvSpPr>
          <p:cNvPr id="14" name="Shape 10"/>
          <p:cNvSpPr/>
          <p:nvPr/>
        </p:nvSpPr>
        <p:spPr>
          <a:xfrm>
            <a:off x="731520" y="4389120"/>
            <a:ext cx="7680960" cy="502920"/>
          </a:xfrm>
          <a:prstGeom prst="rect">
            <a:avLst/>
          </a:prstGeom>
          <a:solidFill>
            <a:srgbClr val="EEF2FF"/>
          </a:solidFill>
          <a:ln/>
        </p:spPr>
      </p:sp>
      <p:pic>
        <p:nvPicPr>
          <p:cNvPr id="15" name="Image 2" descr="preencoded.png">    </p:cNvPr>
          <p:cNvPicPr>
            <a:picLocks noChangeAspect="1"/>
          </p:cNvPicPr>
          <p:nvPr/>
        </p:nvPicPr>
        <p:blipFill>
          <a:blip r:embed="rId3"/>
          <a:stretch>
            <a:fillRect/>
          </a:stretch>
        </p:blipFill>
        <p:spPr>
          <a:xfrm>
            <a:off x="914400" y="4462272"/>
            <a:ext cx="320040" cy="320040"/>
          </a:xfrm>
          <a:prstGeom prst="rect">
            <a:avLst/>
          </a:prstGeom>
        </p:spPr>
      </p:pic>
      <p:sp>
        <p:nvSpPr>
          <p:cNvPr id="16" name="Text 11"/>
          <p:cNvSpPr/>
          <p:nvPr/>
        </p:nvSpPr>
        <p:spPr>
          <a:xfrm>
            <a:off x="1371600" y="4389120"/>
            <a:ext cx="6858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Think of it like a real team: you wouldn't ask one person to do engineering, procurement, and commercial alone.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Multi-Agent Architecture</a:t>
            </a:r>
            <a:endParaRPr lang="en-US" sz="3000" dirty="0"/>
          </a:p>
        </p:txBody>
      </p:sp>
      <p:sp>
        <p:nvSpPr>
          <p:cNvPr id="3" name="Text 1"/>
          <p:cNvSpPr/>
          <p:nvPr/>
        </p:nvSpPr>
        <p:spPr>
          <a:xfrm>
            <a:off x="731520" y="822960"/>
            <a:ext cx="7680960" cy="36576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An orchestrator routes tasks to specialized agents, collects results, and synthesizes output.</a:t>
            </a:r>
            <a:endParaRPr lang="en-US" sz="1600" dirty="0"/>
          </a:p>
        </p:txBody>
      </p:sp>
      <p:sp>
        <p:nvSpPr>
          <p:cNvPr id="4" name="Shape 2"/>
          <p:cNvSpPr/>
          <p:nvPr/>
        </p:nvSpPr>
        <p:spPr>
          <a:xfrm>
            <a:off x="3200400" y="1463040"/>
            <a:ext cx="2743200" cy="640080"/>
          </a:xfrm>
          <a:prstGeom prst="rect">
            <a:avLst/>
          </a:prstGeom>
          <a:solidFill>
            <a:srgbClr val="6366F1"/>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3383280" y="1554480"/>
            <a:ext cx="365760" cy="365760"/>
          </a:xfrm>
          <a:prstGeom prst="rect">
            <a:avLst/>
          </a:prstGeom>
        </p:spPr>
      </p:pic>
      <p:sp>
        <p:nvSpPr>
          <p:cNvPr id="6" name="Text 3"/>
          <p:cNvSpPr/>
          <p:nvPr/>
        </p:nvSpPr>
        <p:spPr>
          <a:xfrm>
            <a:off x="3840480" y="1463040"/>
            <a:ext cx="2011680" cy="64008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Orchestrator (Crew)</a:t>
            </a:r>
            <a:endParaRPr lang="en-US" sz="1400" dirty="0"/>
          </a:p>
        </p:txBody>
      </p:sp>
      <p:sp>
        <p:nvSpPr>
          <p:cNvPr id="7" name="Shape 4"/>
          <p:cNvSpPr/>
          <p:nvPr/>
        </p:nvSpPr>
        <p:spPr>
          <a:xfrm>
            <a:off x="548640" y="2743200"/>
            <a:ext cx="2377440" cy="146304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8" name="Shape 5"/>
          <p:cNvSpPr/>
          <p:nvPr/>
        </p:nvSpPr>
        <p:spPr>
          <a:xfrm>
            <a:off x="548640" y="2743200"/>
            <a:ext cx="2377440" cy="54864"/>
          </a:xfrm>
          <a:prstGeom prst="rect">
            <a:avLst/>
          </a:prstGeom>
          <a:solidFill>
            <a:srgbClr val="3B82F6"/>
          </a:solidFill>
          <a:ln/>
        </p:spPr>
      </p:sp>
      <p:pic>
        <p:nvPicPr>
          <p:cNvPr id="9" name="Image 1" descr="preencoded.png">    </p:cNvPr>
          <p:cNvPicPr>
            <a:picLocks noChangeAspect="1"/>
          </p:cNvPicPr>
          <p:nvPr/>
        </p:nvPicPr>
        <p:blipFill>
          <a:blip r:embed="rId2"/>
          <a:stretch>
            <a:fillRect/>
          </a:stretch>
        </p:blipFill>
        <p:spPr>
          <a:xfrm>
            <a:off x="1371600" y="2926080"/>
            <a:ext cx="502920" cy="502920"/>
          </a:xfrm>
          <a:prstGeom prst="rect">
            <a:avLst/>
          </a:prstGeom>
        </p:spPr>
      </p:pic>
      <p:sp>
        <p:nvSpPr>
          <p:cNvPr id="10" name="Text 6"/>
          <p:cNvSpPr/>
          <p:nvPr/>
        </p:nvSpPr>
        <p:spPr>
          <a:xfrm>
            <a:off x="548640" y="3520440"/>
            <a:ext cx="2377440" cy="274320"/>
          </a:xfrm>
          <a:prstGeom prst="rect">
            <a:avLst/>
          </a:prstGeom>
          <a:noFill/>
          <a:ln/>
        </p:spPr>
        <p:txBody>
          <a:bodyPr wrap="square" lIns="0" tIns="0" rIns="0" bIns="0" rtlCol="0" anchor="ctr"/>
          <a:lstStyle/>
          <a:p>
            <a:pPr algn="ctr" indent="0" marL="0">
              <a:buNone/>
            </a:pPr>
            <a:r>
              <a:rPr lang="en-US" sz="1200" b="1" dirty="0">
                <a:solidFill>
                  <a:srgbClr val="3B82F6"/>
                </a:solidFill>
                <a:latin typeface="Trebuchet MS" pitchFamily="34" charset="0"/>
                <a:ea typeface="Trebuchet MS" pitchFamily="34" charset="-122"/>
                <a:cs typeface="Trebuchet MS" pitchFamily="34" charset="-120"/>
              </a:rPr>
              <a:t>Technical Lead</a:t>
            </a:r>
            <a:endParaRPr lang="en-US" sz="1200" dirty="0"/>
          </a:p>
        </p:txBody>
      </p:sp>
      <p:sp>
        <p:nvSpPr>
          <p:cNvPr id="11" name="Text 7"/>
          <p:cNvSpPr/>
          <p:nvPr/>
        </p:nvSpPr>
        <p:spPr>
          <a:xfrm>
            <a:off x="685800" y="3794760"/>
            <a:ext cx="210312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Extracts quantities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&amp; flags risks</a:t>
            </a:r>
            <a:endParaRPr lang="en-US" sz="1000" dirty="0"/>
          </a:p>
        </p:txBody>
      </p:sp>
      <p:sp>
        <p:nvSpPr>
          <p:cNvPr id="12" name="Shape 8"/>
          <p:cNvSpPr/>
          <p:nvPr/>
        </p:nvSpPr>
        <p:spPr>
          <a:xfrm>
            <a:off x="3383280" y="2743200"/>
            <a:ext cx="2377440" cy="146304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3" name="Shape 9"/>
          <p:cNvSpPr/>
          <p:nvPr/>
        </p:nvSpPr>
        <p:spPr>
          <a:xfrm>
            <a:off x="3383280" y="2743200"/>
            <a:ext cx="2377440" cy="54864"/>
          </a:xfrm>
          <a:prstGeom prst="rect">
            <a:avLst/>
          </a:prstGeom>
          <a:solidFill>
            <a:srgbClr val="F59E0B"/>
          </a:solidFill>
          <a:ln/>
        </p:spPr>
      </p:sp>
      <p:pic>
        <p:nvPicPr>
          <p:cNvPr id="14" name="Image 2" descr="preencoded.png">    </p:cNvPr>
          <p:cNvPicPr>
            <a:picLocks noChangeAspect="1"/>
          </p:cNvPicPr>
          <p:nvPr/>
        </p:nvPicPr>
        <p:blipFill>
          <a:blip r:embed="rId3"/>
          <a:stretch>
            <a:fillRect/>
          </a:stretch>
        </p:blipFill>
        <p:spPr>
          <a:xfrm>
            <a:off x="4206240" y="2926080"/>
            <a:ext cx="502920" cy="502920"/>
          </a:xfrm>
          <a:prstGeom prst="rect">
            <a:avLst/>
          </a:prstGeom>
        </p:spPr>
      </p:pic>
      <p:sp>
        <p:nvSpPr>
          <p:cNvPr id="15" name="Text 10"/>
          <p:cNvSpPr/>
          <p:nvPr/>
        </p:nvSpPr>
        <p:spPr>
          <a:xfrm>
            <a:off x="3383280" y="3520440"/>
            <a:ext cx="2377440" cy="274320"/>
          </a:xfrm>
          <a:prstGeom prst="rect">
            <a:avLst/>
          </a:prstGeom>
          <a:noFill/>
          <a:ln/>
        </p:spPr>
        <p:txBody>
          <a:bodyPr wrap="square" lIns="0" tIns="0" rIns="0" bIns="0" rtlCol="0" anchor="ctr"/>
          <a:lstStyle/>
          <a:p>
            <a:pPr algn="ctr" indent="0" marL="0">
              <a:buNone/>
            </a:pPr>
            <a:r>
              <a:rPr lang="en-US" sz="1200" b="1" dirty="0">
                <a:solidFill>
                  <a:srgbClr val="F59E0B"/>
                </a:solidFill>
                <a:latin typeface="Trebuchet MS" pitchFamily="34" charset="0"/>
                <a:ea typeface="Trebuchet MS" pitchFamily="34" charset="-122"/>
                <a:cs typeface="Trebuchet MS" pitchFamily="34" charset="-120"/>
              </a:rPr>
              <a:t>Procurement Head</a:t>
            </a:r>
            <a:endParaRPr lang="en-US" sz="1200" dirty="0"/>
          </a:p>
        </p:txBody>
      </p:sp>
      <p:sp>
        <p:nvSpPr>
          <p:cNvPr id="16" name="Text 11"/>
          <p:cNvSpPr/>
          <p:nvPr/>
        </p:nvSpPr>
        <p:spPr>
          <a:xfrm>
            <a:off x="3520440" y="3794760"/>
            <a:ext cx="210312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Prices materials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&amp; flags supply risks</a:t>
            </a:r>
            <a:endParaRPr lang="en-US" sz="1000" dirty="0"/>
          </a:p>
        </p:txBody>
      </p:sp>
      <p:sp>
        <p:nvSpPr>
          <p:cNvPr id="17" name="Shape 12"/>
          <p:cNvSpPr/>
          <p:nvPr/>
        </p:nvSpPr>
        <p:spPr>
          <a:xfrm>
            <a:off x="6217920" y="2743200"/>
            <a:ext cx="2377440" cy="146304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8" name="Shape 13"/>
          <p:cNvSpPr/>
          <p:nvPr/>
        </p:nvSpPr>
        <p:spPr>
          <a:xfrm>
            <a:off x="6217920" y="2743200"/>
            <a:ext cx="2377440" cy="54864"/>
          </a:xfrm>
          <a:prstGeom prst="rect">
            <a:avLst/>
          </a:prstGeom>
          <a:solidFill>
            <a:srgbClr val="10B981"/>
          </a:solidFill>
          <a:ln/>
        </p:spPr>
      </p:sp>
      <p:pic>
        <p:nvPicPr>
          <p:cNvPr id="19" name="Image 3" descr="preencoded.png">    </p:cNvPr>
          <p:cNvPicPr>
            <a:picLocks noChangeAspect="1"/>
          </p:cNvPicPr>
          <p:nvPr/>
        </p:nvPicPr>
        <p:blipFill>
          <a:blip r:embed="rId4"/>
          <a:stretch>
            <a:fillRect/>
          </a:stretch>
        </p:blipFill>
        <p:spPr>
          <a:xfrm>
            <a:off x="7040880" y="2926080"/>
            <a:ext cx="502920" cy="502920"/>
          </a:xfrm>
          <a:prstGeom prst="rect">
            <a:avLst/>
          </a:prstGeom>
        </p:spPr>
      </p:pic>
      <p:sp>
        <p:nvSpPr>
          <p:cNvPr id="20" name="Text 14"/>
          <p:cNvSpPr/>
          <p:nvPr/>
        </p:nvSpPr>
        <p:spPr>
          <a:xfrm>
            <a:off x="6217920" y="3520440"/>
            <a:ext cx="2377440" cy="274320"/>
          </a:xfrm>
          <a:prstGeom prst="rect">
            <a:avLst/>
          </a:prstGeom>
          <a:noFill/>
          <a:ln/>
        </p:spPr>
        <p:txBody>
          <a:bodyPr wrap="square" lIns="0" tIns="0" rIns="0" bIns="0" rtlCol="0" anchor="ctr"/>
          <a:lstStyle/>
          <a:p>
            <a:pPr algn="ctr" indent="0" marL="0">
              <a:buNone/>
            </a:pPr>
            <a:r>
              <a:rPr lang="en-US" sz="1200" b="1" dirty="0">
                <a:solidFill>
                  <a:srgbClr val="10B981"/>
                </a:solidFill>
                <a:latin typeface="Trebuchet MS" pitchFamily="34" charset="0"/>
                <a:ea typeface="Trebuchet MS" pitchFamily="34" charset="-122"/>
                <a:cs typeface="Trebuchet MS" pitchFamily="34" charset="-120"/>
              </a:rPr>
              <a:t>Commercial Director</a:t>
            </a:r>
            <a:endParaRPr lang="en-US" sz="1200" dirty="0"/>
          </a:p>
        </p:txBody>
      </p:sp>
      <p:sp>
        <p:nvSpPr>
          <p:cNvPr id="21" name="Text 15"/>
          <p:cNvSpPr/>
          <p:nvPr/>
        </p:nvSpPr>
        <p:spPr>
          <a:xfrm>
            <a:off x="6355080" y="3794760"/>
            <a:ext cx="210312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Adds margin, buffers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&amp; drafts bid letter</a:t>
            </a:r>
            <a:endParaRPr lang="en-US" sz="1000" dirty="0"/>
          </a:p>
        </p:txBody>
      </p:sp>
      <p:sp>
        <p:nvSpPr>
          <p:cNvPr id="22" name="Shape 16"/>
          <p:cNvSpPr/>
          <p:nvPr/>
        </p:nvSpPr>
        <p:spPr>
          <a:xfrm>
            <a:off x="3657600" y="2103120"/>
            <a:ext cx="-1920240" cy="640080"/>
          </a:xfrm>
          <a:prstGeom prst="line">
            <a:avLst/>
          </a:prstGeom>
          <a:noFill/>
          <a:ln w="19050">
            <a:solidFill>
              <a:srgbClr val="94A3B8"/>
            </a:solidFill>
            <a:prstDash val="dash"/>
          </a:ln>
        </p:spPr>
      </p:sp>
      <p:sp>
        <p:nvSpPr>
          <p:cNvPr id="23" name="Shape 17"/>
          <p:cNvSpPr/>
          <p:nvPr/>
        </p:nvSpPr>
        <p:spPr>
          <a:xfrm>
            <a:off x="4572000" y="2103120"/>
            <a:ext cx="0" cy="640080"/>
          </a:xfrm>
          <a:prstGeom prst="line">
            <a:avLst/>
          </a:prstGeom>
          <a:noFill/>
          <a:ln w="19050">
            <a:solidFill>
              <a:srgbClr val="94A3B8"/>
            </a:solidFill>
            <a:prstDash val="dash"/>
          </a:ln>
        </p:spPr>
      </p:sp>
      <p:sp>
        <p:nvSpPr>
          <p:cNvPr id="24" name="Shape 18"/>
          <p:cNvSpPr/>
          <p:nvPr/>
        </p:nvSpPr>
        <p:spPr>
          <a:xfrm>
            <a:off x="5486400" y="2103120"/>
            <a:ext cx="1920240" cy="640080"/>
          </a:xfrm>
          <a:prstGeom prst="line">
            <a:avLst/>
          </a:prstGeom>
          <a:noFill/>
          <a:ln w="19050">
            <a:solidFill>
              <a:srgbClr val="94A3B8"/>
            </a:solidFill>
            <a:prstDash val="dash"/>
          </a:ln>
        </p:spPr>
      </p:sp>
      <p:sp>
        <p:nvSpPr>
          <p:cNvPr id="25" name="Shape 19"/>
          <p:cNvSpPr/>
          <p:nvPr/>
        </p:nvSpPr>
        <p:spPr>
          <a:xfrm>
            <a:off x="731520" y="4434840"/>
            <a:ext cx="7680960" cy="502920"/>
          </a:xfrm>
          <a:prstGeom prst="rect">
            <a:avLst/>
          </a:prstGeom>
          <a:solidFill>
            <a:srgbClr val="1E293B"/>
          </a:solidFill>
          <a:ln/>
        </p:spPr>
      </p:sp>
      <p:pic>
        <p:nvPicPr>
          <p:cNvPr id="26" name="Image 4" descr="preencoded.png">    </p:cNvPr>
          <p:cNvPicPr>
            <a:picLocks noChangeAspect="1"/>
          </p:cNvPicPr>
          <p:nvPr/>
        </p:nvPicPr>
        <p:blipFill>
          <a:blip r:embed="rId5"/>
          <a:stretch>
            <a:fillRect/>
          </a:stretch>
        </p:blipFill>
        <p:spPr>
          <a:xfrm>
            <a:off x="914400" y="4507992"/>
            <a:ext cx="274320" cy="274320"/>
          </a:xfrm>
          <a:prstGeom prst="rect">
            <a:avLst/>
          </a:prstGeom>
        </p:spPr>
      </p:pic>
      <p:sp>
        <p:nvSpPr>
          <p:cNvPr id="27" name="Text 20"/>
          <p:cNvSpPr/>
          <p:nvPr/>
        </p:nvSpPr>
        <p:spPr>
          <a:xfrm>
            <a:off x="1325880" y="4434840"/>
            <a:ext cx="6858000" cy="502920"/>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The orchestrator defines the process: which agent runs first, what data flows between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Agent Interaction Patterns</a:t>
            </a:r>
            <a:endParaRPr lang="en-US" sz="3000" dirty="0"/>
          </a:p>
        </p:txBody>
      </p:sp>
      <p:sp>
        <p:nvSpPr>
          <p:cNvPr id="3" name="Text 1"/>
          <p:cNvSpPr/>
          <p:nvPr/>
        </p:nvSpPr>
        <p:spPr>
          <a:xfrm>
            <a:off x="731520" y="822960"/>
            <a:ext cx="768096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How agents communicate determines system behaviour. Choose the pattern that fits the problem.</a:t>
            </a:r>
            <a:endParaRPr lang="en-US" sz="1600" dirty="0"/>
          </a:p>
        </p:txBody>
      </p:sp>
      <p:sp>
        <p:nvSpPr>
          <p:cNvPr id="4" name="Shape 2"/>
          <p:cNvSpPr/>
          <p:nvPr/>
        </p:nvSpPr>
        <p:spPr>
          <a:xfrm>
            <a:off x="731520" y="1417320"/>
            <a:ext cx="246888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417320"/>
            <a:ext cx="2468880" cy="54864"/>
          </a:xfrm>
          <a:prstGeom prst="rect">
            <a:avLst/>
          </a:prstGeom>
          <a:solidFill>
            <a:srgbClr val="6366F1"/>
          </a:solidFill>
          <a:ln/>
        </p:spPr>
      </p:sp>
      <p:pic>
        <p:nvPicPr>
          <p:cNvPr id="6" name="Image 0" descr="preencoded.png">    </p:cNvPr>
          <p:cNvPicPr>
            <a:picLocks noChangeAspect="1"/>
          </p:cNvPicPr>
          <p:nvPr/>
        </p:nvPicPr>
        <p:blipFill>
          <a:blip r:embed="rId1"/>
          <a:stretch>
            <a:fillRect/>
          </a:stretch>
        </p:blipFill>
        <p:spPr>
          <a:xfrm>
            <a:off x="1600200" y="1600200"/>
            <a:ext cx="548640" cy="548640"/>
          </a:xfrm>
          <a:prstGeom prst="rect">
            <a:avLst/>
          </a:prstGeom>
        </p:spPr>
      </p:pic>
      <p:sp>
        <p:nvSpPr>
          <p:cNvPr id="7" name="Text 4"/>
          <p:cNvSpPr/>
          <p:nvPr/>
        </p:nvSpPr>
        <p:spPr>
          <a:xfrm>
            <a:off x="822960" y="2240280"/>
            <a:ext cx="2286000" cy="320040"/>
          </a:xfrm>
          <a:prstGeom prst="rect">
            <a:avLst/>
          </a:prstGeom>
          <a:noFill/>
          <a:ln/>
        </p:spPr>
        <p:txBody>
          <a:bodyPr wrap="square" lIns="0" tIns="0" rIns="0" bIns="0" rtlCol="0" anchor="ctr"/>
          <a:lstStyle/>
          <a:p>
            <a:pPr algn="ctr" indent="0" marL="0">
              <a:buNone/>
            </a:pPr>
            <a:r>
              <a:rPr lang="en-US" sz="1300" b="1" dirty="0">
                <a:solidFill>
                  <a:srgbClr val="6366F1"/>
                </a:solidFill>
                <a:latin typeface="Trebuchet MS" pitchFamily="34" charset="0"/>
                <a:ea typeface="Trebuchet MS" pitchFamily="34" charset="-122"/>
                <a:cs typeface="Trebuchet MS" pitchFamily="34" charset="-120"/>
              </a:rPr>
              <a:t>Sequential (Pipeline)</a:t>
            </a:r>
            <a:endParaRPr lang="en-US" sz="1300" dirty="0"/>
          </a:p>
        </p:txBody>
      </p:sp>
      <p:sp>
        <p:nvSpPr>
          <p:cNvPr id="8" name="Shape 5"/>
          <p:cNvSpPr/>
          <p:nvPr/>
        </p:nvSpPr>
        <p:spPr>
          <a:xfrm>
            <a:off x="914400" y="2651760"/>
            <a:ext cx="2103120" cy="320040"/>
          </a:xfrm>
          <a:prstGeom prst="rect">
            <a:avLst/>
          </a:prstGeom>
          <a:solidFill>
            <a:srgbClr val="F8FAFC"/>
          </a:solidFill>
          <a:ln/>
        </p:spPr>
      </p:sp>
      <p:sp>
        <p:nvSpPr>
          <p:cNvPr id="9" name="Text 6"/>
          <p:cNvSpPr/>
          <p:nvPr/>
        </p:nvSpPr>
        <p:spPr>
          <a:xfrm>
            <a:off x="914400" y="2651760"/>
            <a:ext cx="2103120" cy="320040"/>
          </a:xfrm>
          <a:prstGeom prst="rect">
            <a:avLst/>
          </a:prstGeom>
          <a:noFill/>
          <a:ln/>
        </p:spPr>
        <p:txBody>
          <a:bodyPr wrap="square" lIns="0" tIns="0" rIns="0" bIns="0" rtlCol="0" anchor="ctr"/>
          <a:lstStyle/>
          <a:p>
            <a:pPr algn="ctr" indent="0" marL="0">
              <a:buNone/>
            </a:pPr>
            <a:r>
              <a:rPr lang="en-US" sz="1100" b="1" dirty="0">
                <a:solidFill>
                  <a:srgbClr val="6366F1"/>
                </a:solidFill>
                <a:latin typeface="Courier New" pitchFamily="34" charset="0"/>
                <a:ea typeface="Courier New" pitchFamily="34" charset="-122"/>
                <a:cs typeface="Courier New" pitchFamily="34" charset="-120"/>
              </a:rPr>
              <a:t>A → B → C</a:t>
            </a:r>
            <a:endParaRPr lang="en-US" sz="1100" dirty="0"/>
          </a:p>
        </p:txBody>
      </p:sp>
      <p:sp>
        <p:nvSpPr>
          <p:cNvPr id="10" name="Text 7"/>
          <p:cNvSpPr/>
          <p:nvPr/>
        </p:nvSpPr>
        <p:spPr>
          <a:xfrm>
            <a:off x="914400" y="3063240"/>
            <a:ext cx="2103120" cy="10058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Agent A finishes → passes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output to Agent B → B passes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to Agent C. Linear and</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predictable. Our Task 7 uses this.</a:t>
            </a:r>
            <a:endParaRPr lang="en-US" sz="1100" dirty="0"/>
          </a:p>
        </p:txBody>
      </p:sp>
      <p:sp>
        <p:nvSpPr>
          <p:cNvPr id="11" name="Shape 8"/>
          <p:cNvSpPr/>
          <p:nvPr/>
        </p:nvSpPr>
        <p:spPr>
          <a:xfrm>
            <a:off x="1371600" y="4160520"/>
            <a:ext cx="1188720" cy="274320"/>
          </a:xfrm>
          <a:prstGeom prst="rect">
            <a:avLst/>
          </a:prstGeom>
          <a:solidFill>
            <a:srgbClr val="22C55E"/>
          </a:solidFill>
          <a:ln/>
        </p:spPr>
      </p:sp>
      <p:sp>
        <p:nvSpPr>
          <p:cNvPr id="12" name="Text 9"/>
          <p:cNvSpPr/>
          <p:nvPr/>
        </p:nvSpPr>
        <p:spPr>
          <a:xfrm>
            <a:off x="1371600" y="416052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THIS TASK</a:t>
            </a:r>
            <a:endParaRPr lang="en-US" sz="900" dirty="0"/>
          </a:p>
        </p:txBody>
      </p:sp>
      <p:sp>
        <p:nvSpPr>
          <p:cNvPr id="13" name="Shape 10"/>
          <p:cNvSpPr/>
          <p:nvPr/>
        </p:nvSpPr>
        <p:spPr>
          <a:xfrm>
            <a:off x="3474720" y="1417320"/>
            <a:ext cx="246888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3474720" y="1417320"/>
            <a:ext cx="2468880" cy="54864"/>
          </a:xfrm>
          <a:prstGeom prst="rect">
            <a:avLst/>
          </a:prstGeom>
          <a:solidFill>
            <a:srgbClr val="F97316"/>
          </a:solidFill>
          <a:ln/>
        </p:spPr>
      </p:sp>
      <p:pic>
        <p:nvPicPr>
          <p:cNvPr id="15" name="Image 1" descr="preencoded.png">    </p:cNvPr>
          <p:cNvPicPr>
            <a:picLocks noChangeAspect="1"/>
          </p:cNvPicPr>
          <p:nvPr/>
        </p:nvPicPr>
        <p:blipFill>
          <a:blip r:embed="rId2"/>
          <a:stretch>
            <a:fillRect/>
          </a:stretch>
        </p:blipFill>
        <p:spPr>
          <a:xfrm>
            <a:off x="4343400" y="1600200"/>
            <a:ext cx="548640" cy="548640"/>
          </a:xfrm>
          <a:prstGeom prst="rect">
            <a:avLst/>
          </a:prstGeom>
        </p:spPr>
      </p:pic>
      <p:sp>
        <p:nvSpPr>
          <p:cNvPr id="16" name="Text 12"/>
          <p:cNvSpPr/>
          <p:nvPr/>
        </p:nvSpPr>
        <p:spPr>
          <a:xfrm>
            <a:off x="3566160" y="2240280"/>
            <a:ext cx="2286000" cy="320040"/>
          </a:xfrm>
          <a:prstGeom prst="rect">
            <a:avLst/>
          </a:prstGeom>
          <a:noFill/>
          <a:ln/>
        </p:spPr>
        <p:txBody>
          <a:bodyPr wrap="square" lIns="0" tIns="0" rIns="0" bIns="0" rtlCol="0" anchor="ctr"/>
          <a:lstStyle/>
          <a:p>
            <a:pPr algn="ctr" indent="0" marL="0">
              <a:buNone/>
            </a:pPr>
            <a:r>
              <a:rPr lang="en-US" sz="1300" b="1" dirty="0">
                <a:solidFill>
                  <a:srgbClr val="F97316"/>
                </a:solidFill>
                <a:latin typeface="Trebuchet MS" pitchFamily="34" charset="0"/>
                <a:ea typeface="Trebuchet MS" pitchFamily="34" charset="-122"/>
                <a:cs typeface="Trebuchet MS" pitchFamily="34" charset="-120"/>
              </a:rPr>
              <a:t>Hierarchical (Manager)</a:t>
            </a:r>
            <a:endParaRPr lang="en-US" sz="1300" dirty="0"/>
          </a:p>
        </p:txBody>
      </p:sp>
      <p:sp>
        <p:nvSpPr>
          <p:cNvPr id="17" name="Shape 13"/>
          <p:cNvSpPr/>
          <p:nvPr/>
        </p:nvSpPr>
        <p:spPr>
          <a:xfrm>
            <a:off x="3657600" y="2651760"/>
            <a:ext cx="2103120" cy="320040"/>
          </a:xfrm>
          <a:prstGeom prst="rect">
            <a:avLst/>
          </a:prstGeom>
          <a:solidFill>
            <a:srgbClr val="F8FAFC"/>
          </a:solidFill>
          <a:ln/>
        </p:spPr>
      </p:sp>
      <p:sp>
        <p:nvSpPr>
          <p:cNvPr id="18" name="Text 14"/>
          <p:cNvSpPr/>
          <p:nvPr/>
        </p:nvSpPr>
        <p:spPr>
          <a:xfrm>
            <a:off x="3657600" y="2651760"/>
            <a:ext cx="2103120" cy="320040"/>
          </a:xfrm>
          <a:prstGeom prst="rect">
            <a:avLst/>
          </a:prstGeom>
          <a:noFill/>
          <a:ln/>
        </p:spPr>
        <p:txBody>
          <a:bodyPr wrap="square" lIns="0" tIns="0" rIns="0" bIns="0" rtlCol="0" anchor="ctr"/>
          <a:lstStyle/>
          <a:p>
            <a:pPr algn="ctr" indent="0" marL="0">
              <a:buNone/>
            </a:pPr>
            <a:r>
              <a:rPr lang="en-US" sz="1100" b="1" dirty="0">
                <a:solidFill>
                  <a:srgbClr val="F97316"/>
                </a:solidFill>
                <a:latin typeface="Courier New" pitchFamily="34" charset="0"/>
                <a:ea typeface="Courier New" pitchFamily="34" charset="-122"/>
                <a:cs typeface="Courier New" pitchFamily="34" charset="-120"/>
              </a:rPr>
              <a:t>M → {A, B, C} → M</a:t>
            </a:r>
            <a:endParaRPr lang="en-US" sz="1100" dirty="0"/>
          </a:p>
        </p:txBody>
      </p:sp>
      <p:sp>
        <p:nvSpPr>
          <p:cNvPr id="19" name="Text 15"/>
          <p:cNvSpPr/>
          <p:nvPr/>
        </p:nvSpPr>
        <p:spPr>
          <a:xfrm>
            <a:off x="3657600" y="3063240"/>
            <a:ext cx="2103120" cy="10058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 manager agent delegates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sub-tasks to workers, reviews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their output, and synthesizes.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Good for complex coordination.</a:t>
            </a:r>
            <a:endParaRPr lang="en-US" sz="1100" dirty="0"/>
          </a:p>
        </p:txBody>
      </p:sp>
      <p:sp>
        <p:nvSpPr>
          <p:cNvPr id="20" name="Shape 16"/>
          <p:cNvSpPr/>
          <p:nvPr/>
        </p:nvSpPr>
        <p:spPr>
          <a:xfrm>
            <a:off x="6217920" y="1417320"/>
            <a:ext cx="246888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7"/>
          <p:cNvSpPr/>
          <p:nvPr/>
        </p:nvSpPr>
        <p:spPr>
          <a:xfrm>
            <a:off x="6217920" y="1417320"/>
            <a:ext cx="2468880" cy="54864"/>
          </a:xfrm>
          <a:prstGeom prst="rect">
            <a:avLst/>
          </a:prstGeom>
          <a:solidFill>
            <a:srgbClr val="EF4444"/>
          </a:solidFill>
          <a:ln/>
        </p:spPr>
      </p:sp>
      <p:pic>
        <p:nvPicPr>
          <p:cNvPr id="22" name="Image 2" descr="preencoded.png">    </p:cNvPr>
          <p:cNvPicPr>
            <a:picLocks noChangeAspect="1"/>
          </p:cNvPicPr>
          <p:nvPr/>
        </p:nvPicPr>
        <p:blipFill>
          <a:blip r:embed="rId3"/>
          <a:stretch>
            <a:fillRect/>
          </a:stretch>
        </p:blipFill>
        <p:spPr>
          <a:xfrm>
            <a:off x="7086600" y="1600200"/>
            <a:ext cx="548640" cy="548640"/>
          </a:xfrm>
          <a:prstGeom prst="rect">
            <a:avLst/>
          </a:prstGeom>
        </p:spPr>
      </p:pic>
      <p:sp>
        <p:nvSpPr>
          <p:cNvPr id="23" name="Text 18"/>
          <p:cNvSpPr/>
          <p:nvPr/>
        </p:nvSpPr>
        <p:spPr>
          <a:xfrm>
            <a:off x="6309360" y="2240280"/>
            <a:ext cx="2286000" cy="320040"/>
          </a:xfrm>
          <a:prstGeom prst="rect">
            <a:avLst/>
          </a:prstGeom>
          <a:noFill/>
          <a:ln/>
        </p:spPr>
        <p:txBody>
          <a:bodyPr wrap="square" lIns="0" tIns="0" rIns="0" bIns="0" rtlCol="0" anchor="ctr"/>
          <a:lstStyle/>
          <a:p>
            <a:pPr algn="ctr" indent="0" marL="0">
              <a:buNone/>
            </a:pPr>
            <a:r>
              <a:rPr lang="en-US" sz="1300" b="1" dirty="0">
                <a:solidFill>
                  <a:srgbClr val="EF4444"/>
                </a:solidFill>
                <a:latin typeface="Trebuchet MS" pitchFamily="34" charset="0"/>
                <a:ea typeface="Trebuchet MS" pitchFamily="34" charset="-122"/>
                <a:cs typeface="Trebuchet MS" pitchFamily="34" charset="-120"/>
              </a:rPr>
              <a:t>Debate (Adversarial)</a:t>
            </a:r>
            <a:endParaRPr lang="en-US" sz="1300" dirty="0"/>
          </a:p>
        </p:txBody>
      </p:sp>
      <p:sp>
        <p:nvSpPr>
          <p:cNvPr id="24" name="Shape 19"/>
          <p:cNvSpPr/>
          <p:nvPr/>
        </p:nvSpPr>
        <p:spPr>
          <a:xfrm>
            <a:off x="6400800" y="2651760"/>
            <a:ext cx="2103120" cy="320040"/>
          </a:xfrm>
          <a:prstGeom prst="rect">
            <a:avLst/>
          </a:prstGeom>
          <a:solidFill>
            <a:srgbClr val="F8FAFC"/>
          </a:solidFill>
          <a:ln/>
        </p:spPr>
      </p:sp>
      <p:sp>
        <p:nvSpPr>
          <p:cNvPr id="25" name="Text 20"/>
          <p:cNvSpPr/>
          <p:nvPr/>
        </p:nvSpPr>
        <p:spPr>
          <a:xfrm>
            <a:off x="6400800" y="2651760"/>
            <a:ext cx="2103120" cy="320040"/>
          </a:xfrm>
          <a:prstGeom prst="rect">
            <a:avLst/>
          </a:prstGeom>
          <a:noFill/>
          <a:ln/>
        </p:spPr>
        <p:txBody>
          <a:bodyPr wrap="square" lIns="0" tIns="0" rIns="0" bIns="0" rtlCol="0" anchor="ctr"/>
          <a:lstStyle/>
          <a:p>
            <a:pPr algn="ctr" indent="0" marL="0">
              <a:buNone/>
            </a:pPr>
            <a:r>
              <a:rPr lang="en-US" sz="1100" b="1" dirty="0">
                <a:solidFill>
                  <a:srgbClr val="EF4444"/>
                </a:solidFill>
                <a:latin typeface="Courier New" pitchFamily="34" charset="0"/>
                <a:ea typeface="Courier New" pitchFamily="34" charset="-122"/>
                <a:cs typeface="Courier New" pitchFamily="34" charset="-120"/>
              </a:rPr>
              <a:t>A ↔ B → Judge</a:t>
            </a:r>
            <a:endParaRPr lang="en-US" sz="1100" dirty="0"/>
          </a:p>
        </p:txBody>
      </p:sp>
      <p:sp>
        <p:nvSpPr>
          <p:cNvPr id="26" name="Text 21"/>
          <p:cNvSpPr/>
          <p:nvPr/>
        </p:nvSpPr>
        <p:spPr>
          <a:xfrm>
            <a:off x="6400800" y="3063240"/>
            <a:ext cx="2103120" cy="10058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Agents argue opposing sides.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A third agent judges. Forces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robust reasoning by stress-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testing assumptions.</a:t>
            </a:r>
            <a:endParaRPr lang="en-US" sz="1100" dirty="0"/>
          </a:p>
        </p:txBody>
      </p:sp>
      <p:sp>
        <p:nvSpPr>
          <p:cNvPr id="27" name="Shape 22"/>
          <p:cNvSpPr/>
          <p:nvPr/>
        </p:nvSpPr>
        <p:spPr>
          <a:xfrm>
            <a:off x="731520" y="4800600"/>
            <a:ext cx="7680960" cy="411480"/>
          </a:xfrm>
          <a:prstGeom prst="rect">
            <a:avLst/>
          </a:prstGeom>
          <a:solidFill>
            <a:srgbClr val="EEF2FF"/>
          </a:solidFill>
          <a:ln/>
        </p:spPr>
      </p:sp>
      <p:pic>
        <p:nvPicPr>
          <p:cNvPr id="28" name="Image 3" descr="preencoded.png">    </p:cNvPr>
          <p:cNvPicPr>
            <a:picLocks noChangeAspect="1"/>
          </p:cNvPicPr>
          <p:nvPr/>
        </p:nvPicPr>
        <p:blipFill>
          <a:blip r:embed="rId4"/>
          <a:stretch>
            <a:fillRect/>
          </a:stretch>
        </p:blipFill>
        <p:spPr>
          <a:xfrm>
            <a:off x="914400" y="4864608"/>
            <a:ext cx="274320" cy="274320"/>
          </a:xfrm>
          <a:prstGeom prst="rect">
            <a:avLst/>
          </a:prstGeom>
        </p:spPr>
      </p:pic>
      <p:sp>
        <p:nvSpPr>
          <p:cNvPr id="29" name="Text 23"/>
          <p:cNvSpPr/>
          <p:nvPr/>
        </p:nvSpPr>
        <p:spPr>
          <a:xfrm>
            <a:off x="1325880" y="4800600"/>
            <a:ext cx="685800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Sequential is the simplest to build and debug. Start here, then graduate to hierarchical or debate.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A2A: Agent-to-Agent Protocol</a:t>
            </a:r>
            <a:endParaRPr lang="en-US" sz="3000" dirty="0"/>
          </a:p>
        </p:txBody>
      </p:sp>
      <p:sp>
        <p:nvSpPr>
          <p:cNvPr id="3" name="Text 1"/>
          <p:cNvSpPr/>
          <p:nvPr/>
        </p:nvSpPr>
        <p:spPr>
          <a:xfrm>
            <a:off x="731520" y="777240"/>
            <a:ext cx="7680960" cy="36576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If MCP connects agents to tools, A2A connects agents to each other — across vendors and frameworks.</a:t>
            </a:r>
            <a:endParaRPr lang="en-US" sz="1600" dirty="0"/>
          </a:p>
        </p:txBody>
      </p:sp>
      <p:sp>
        <p:nvSpPr>
          <p:cNvPr id="4" name="Shape 2"/>
          <p:cNvSpPr/>
          <p:nvPr/>
        </p:nvSpPr>
        <p:spPr>
          <a:xfrm>
            <a:off x="731520" y="1417320"/>
            <a:ext cx="7680960" cy="91440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417320"/>
            <a:ext cx="54864" cy="914400"/>
          </a:xfrm>
          <a:prstGeom prst="rect">
            <a:avLst/>
          </a:prstGeom>
          <a:solidFill>
            <a:srgbClr val="F97316"/>
          </a:solidFill>
          <a:ln/>
        </p:spPr>
      </p:sp>
      <p:sp>
        <p:nvSpPr>
          <p:cNvPr id="6" name="Text 4"/>
          <p:cNvSpPr/>
          <p:nvPr/>
        </p:nvSpPr>
        <p:spPr>
          <a:xfrm>
            <a:off x="1005840" y="1508760"/>
            <a:ext cx="2743200" cy="274320"/>
          </a:xfrm>
          <a:prstGeom prst="rect">
            <a:avLst/>
          </a:prstGeom>
          <a:noFill/>
          <a:ln/>
        </p:spPr>
        <p:txBody>
          <a:bodyPr wrap="square" lIns="0" tIns="0" rIns="0" bIns="0" rtlCol="0" anchor="ctr"/>
          <a:lstStyle/>
          <a:p>
            <a:pPr indent="0" marL="0">
              <a:buNone/>
            </a:pPr>
            <a:r>
              <a:rPr lang="en-US" sz="1400" b="1" dirty="0">
                <a:solidFill>
                  <a:srgbClr val="F97316"/>
                </a:solidFill>
                <a:latin typeface="Trebuchet MS" pitchFamily="34" charset="0"/>
                <a:ea typeface="Trebuchet MS" pitchFamily="34" charset="-122"/>
                <a:cs typeface="Trebuchet MS" pitchFamily="34" charset="-120"/>
              </a:rPr>
              <a:t>The Problem</a:t>
            </a:r>
            <a:endParaRPr lang="en-US" sz="1400" dirty="0"/>
          </a:p>
        </p:txBody>
      </p:sp>
      <p:sp>
        <p:nvSpPr>
          <p:cNvPr id="7" name="Text 5"/>
          <p:cNvSpPr/>
          <p:nvPr/>
        </p:nvSpPr>
        <p:spPr>
          <a:xfrm>
            <a:off x="1005840" y="1810512"/>
            <a:ext cx="713232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Today, CrewAI agents can only talk to other CrewAI agents. AutoGen agents only talk to AutoGen. What if your Technical Lead runs on Claude and your Procurement agent runs on GPT? They can't collaborate — until A2A.</a:t>
            </a:r>
            <a:endParaRPr lang="en-US" sz="1100" dirty="0"/>
          </a:p>
        </p:txBody>
      </p:sp>
      <p:sp>
        <p:nvSpPr>
          <p:cNvPr id="8" name="Shape 6"/>
          <p:cNvSpPr/>
          <p:nvPr/>
        </p:nvSpPr>
        <p:spPr>
          <a:xfrm>
            <a:off x="731520" y="2606040"/>
            <a:ext cx="2468880" cy="196596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9" name="Shape 7"/>
          <p:cNvSpPr/>
          <p:nvPr/>
        </p:nvSpPr>
        <p:spPr>
          <a:xfrm>
            <a:off x="731520" y="2606040"/>
            <a:ext cx="2468880" cy="54864"/>
          </a:xfrm>
          <a:prstGeom prst="rect">
            <a:avLst/>
          </a:prstGeom>
          <a:solidFill>
            <a:srgbClr val="6366F1"/>
          </a:solidFill>
          <a:ln/>
        </p:spPr>
      </p:sp>
      <p:pic>
        <p:nvPicPr>
          <p:cNvPr id="10" name="Image 0" descr="preencoded.png">    </p:cNvPr>
          <p:cNvPicPr>
            <a:picLocks noChangeAspect="1"/>
          </p:cNvPicPr>
          <p:nvPr/>
        </p:nvPicPr>
        <p:blipFill>
          <a:blip r:embed="rId1"/>
          <a:stretch>
            <a:fillRect/>
          </a:stretch>
        </p:blipFill>
        <p:spPr>
          <a:xfrm>
            <a:off x="1600200" y="2743200"/>
            <a:ext cx="502920" cy="502920"/>
          </a:xfrm>
          <a:prstGeom prst="rect">
            <a:avLst/>
          </a:prstGeom>
        </p:spPr>
      </p:pic>
      <p:sp>
        <p:nvSpPr>
          <p:cNvPr id="11" name="Text 8"/>
          <p:cNvSpPr/>
          <p:nvPr/>
        </p:nvSpPr>
        <p:spPr>
          <a:xfrm>
            <a:off x="731520" y="3337560"/>
            <a:ext cx="2468880" cy="274320"/>
          </a:xfrm>
          <a:prstGeom prst="rect">
            <a:avLst/>
          </a:prstGeom>
          <a:noFill/>
          <a:ln/>
        </p:spPr>
        <p:txBody>
          <a:bodyPr wrap="square" lIns="0" tIns="0" rIns="0" bIns="0" rtlCol="0" anchor="ctr"/>
          <a:lstStyle/>
          <a:p>
            <a:pPr algn="ctr" indent="0" marL="0">
              <a:buNone/>
            </a:pPr>
            <a:r>
              <a:rPr lang="en-US" sz="1200" b="1" dirty="0">
                <a:solidFill>
                  <a:srgbClr val="6366F1"/>
                </a:solidFill>
                <a:latin typeface="Trebuchet MS" pitchFamily="34" charset="0"/>
                <a:ea typeface="Trebuchet MS" pitchFamily="34" charset="-122"/>
                <a:cs typeface="Trebuchet MS" pitchFamily="34" charset="-120"/>
              </a:rPr>
              <a:t>Agent Card</a:t>
            </a:r>
            <a:endParaRPr lang="en-US" sz="1200" dirty="0"/>
          </a:p>
        </p:txBody>
      </p:sp>
      <p:sp>
        <p:nvSpPr>
          <p:cNvPr id="12" name="Text 9"/>
          <p:cNvSpPr/>
          <p:nvPr/>
        </p:nvSpPr>
        <p:spPr>
          <a:xfrm>
            <a:off x="868680" y="3657600"/>
            <a:ext cx="2194560" cy="8229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Each agent publishes a JSON</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card describing its capabilities,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skills, and endpoint URL.</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Like a digital business card.</a:t>
            </a:r>
            <a:endParaRPr lang="en-US" sz="1000" dirty="0"/>
          </a:p>
        </p:txBody>
      </p:sp>
      <p:sp>
        <p:nvSpPr>
          <p:cNvPr id="13" name="Shape 10"/>
          <p:cNvSpPr/>
          <p:nvPr/>
        </p:nvSpPr>
        <p:spPr>
          <a:xfrm>
            <a:off x="3474720" y="2606040"/>
            <a:ext cx="2468880" cy="196596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4" name="Shape 11"/>
          <p:cNvSpPr/>
          <p:nvPr/>
        </p:nvSpPr>
        <p:spPr>
          <a:xfrm>
            <a:off x="3474720" y="2606040"/>
            <a:ext cx="2468880" cy="54864"/>
          </a:xfrm>
          <a:prstGeom prst="rect">
            <a:avLst/>
          </a:prstGeom>
          <a:solidFill>
            <a:srgbClr val="F97316"/>
          </a:solidFill>
          <a:ln/>
        </p:spPr>
      </p:sp>
      <p:pic>
        <p:nvPicPr>
          <p:cNvPr id="15" name="Image 1" descr="preencoded.png">    </p:cNvPr>
          <p:cNvPicPr>
            <a:picLocks noChangeAspect="1"/>
          </p:cNvPicPr>
          <p:nvPr/>
        </p:nvPicPr>
        <p:blipFill>
          <a:blip r:embed="rId2"/>
          <a:stretch>
            <a:fillRect/>
          </a:stretch>
        </p:blipFill>
        <p:spPr>
          <a:xfrm>
            <a:off x="4343400" y="2743200"/>
            <a:ext cx="502920" cy="502920"/>
          </a:xfrm>
          <a:prstGeom prst="rect">
            <a:avLst/>
          </a:prstGeom>
        </p:spPr>
      </p:pic>
      <p:sp>
        <p:nvSpPr>
          <p:cNvPr id="16" name="Text 12"/>
          <p:cNvSpPr/>
          <p:nvPr/>
        </p:nvSpPr>
        <p:spPr>
          <a:xfrm>
            <a:off x="3474720" y="3337560"/>
            <a:ext cx="2468880" cy="274320"/>
          </a:xfrm>
          <a:prstGeom prst="rect">
            <a:avLst/>
          </a:prstGeom>
          <a:noFill/>
          <a:ln/>
        </p:spPr>
        <p:txBody>
          <a:bodyPr wrap="square" lIns="0" tIns="0" rIns="0" bIns="0" rtlCol="0" anchor="ctr"/>
          <a:lstStyle/>
          <a:p>
            <a:pPr algn="ctr" indent="0" marL="0">
              <a:buNone/>
            </a:pPr>
            <a:r>
              <a:rPr lang="en-US" sz="1200" b="1" dirty="0">
                <a:solidFill>
                  <a:srgbClr val="F97316"/>
                </a:solidFill>
                <a:latin typeface="Trebuchet MS" pitchFamily="34" charset="0"/>
                <a:ea typeface="Trebuchet MS" pitchFamily="34" charset="-122"/>
                <a:cs typeface="Trebuchet MS" pitchFamily="34" charset="-120"/>
              </a:rPr>
              <a:t>Task Negotiation</a:t>
            </a:r>
            <a:endParaRPr lang="en-US" sz="1200" dirty="0"/>
          </a:p>
        </p:txBody>
      </p:sp>
      <p:sp>
        <p:nvSpPr>
          <p:cNvPr id="17" name="Text 13"/>
          <p:cNvSpPr/>
          <p:nvPr/>
        </p:nvSpPr>
        <p:spPr>
          <a:xfrm>
            <a:off x="3611880" y="3657600"/>
            <a:ext cx="2194560" cy="8229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One agent sends a task request.</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The other accepts, rejects, or</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counters. Supports long-running</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async collaboration.</a:t>
            </a:r>
            <a:endParaRPr lang="en-US" sz="1000" dirty="0"/>
          </a:p>
        </p:txBody>
      </p:sp>
      <p:sp>
        <p:nvSpPr>
          <p:cNvPr id="18" name="Shape 14"/>
          <p:cNvSpPr/>
          <p:nvPr/>
        </p:nvSpPr>
        <p:spPr>
          <a:xfrm>
            <a:off x="6217920" y="2606040"/>
            <a:ext cx="2468880" cy="196596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9" name="Shape 15"/>
          <p:cNvSpPr/>
          <p:nvPr/>
        </p:nvSpPr>
        <p:spPr>
          <a:xfrm>
            <a:off x="6217920" y="2606040"/>
            <a:ext cx="2468880" cy="54864"/>
          </a:xfrm>
          <a:prstGeom prst="rect">
            <a:avLst/>
          </a:prstGeom>
          <a:solidFill>
            <a:srgbClr val="22C55E"/>
          </a:solidFill>
          <a:ln/>
        </p:spPr>
      </p:sp>
      <p:pic>
        <p:nvPicPr>
          <p:cNvPr id="20" name="Image 2" descr="preencoded.png">    </p:cNvPr>
          <p:cNvPicPr>
            <a:picLocks noChangeAspect="1"/>
          </p:cNvPicPr>
          <p:nvPr/>
        </p:nvPicPr>
        <p:blipFill>
          <a:blip r:embed="rId3"/>
          <a:stretch>
            <a:fillRect/>
          </a:stretch>
        </p:blipFill>
        <p:spPr>
          <a:xfrm>
            <a:off x="7086600" y="2743200"/>
            <a:ext cx="502920" cy="502920"/>
          </a:xfrm>
          <a:prstGeom prst="rect">
            <a:avLst/>
          </a:prstGeom>
        </p:spPr>
      </p:pic>
      <p:sp>
        <p:nvSpPr>
          <p:cNvPr id="21" name="Text 16"/>
          <p:cNvSpPr/>
          <p:nvPr/>
        </p:nvSpPr>
        <p:spPr>
          <a:xfrm>
            <a:off x="6217920" y="3337560"/>
            <a:ext cx="2468880" cy="274320"/>
          </a:xfrm>
          <a:prstGeom prst="rect">
            <a:avLst/>
          </a:prstGeom>
          <a:noFill/>
          <a:ln/>
        </p:spPr>
        <p:txBody>
          <a:bodyPr wrap="square" lIns="0" tIns="0" rIns="0" bIns="0" rtlCol="0" anchor="ctr"/>
          <a:lstStyle/>
          <a:p>
            <a:pPr algn="ctr" indent="0" marL="0">
              <a:buNone/>
            </a:pPr>
            <a:r>
              <a:rPr lang="en-US" sz="1200" b="1" dirty="0">
                <a:solidFill>
                  <a:srgbClr val="22C55E"/>
                </a:solidFill>
                <a:latin typeface="Trebuchet MS" pitchFamily="34" charset="0"/>
                <a:ea typeface="Trebuchet MS" pitchFamily="34" charset="-122"/>
                <a:cs typeface="Trebuchet MS" pitchFamily="34" charset="-120"/>
              </a:rPr>
              <a:t>Cross-Vendor</a:t>
            </a:r>
            <a:endParaRPr lang="en-US" sz="1200" dirty="0"/>
          </a:p>
        </p:txBody>
      </p:sp>
      <p:sp>
        <p:nvSpPr>
          <p:cNvPr id="22" name="Text 17"/>
          <p:cNvSpPr/>
          <p:nvPr/>
        </p:nvSpPr>
        <p:spPr>
          <a:xfrm>
            <a:off x="6355080" y="3657600"/>
            <a:ext cx="2194560" cy="8229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 Claude agent can delegate</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to a GPT agent, which calls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a Gemini agent. Framework-</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agnostic by design.</a:t>
            </a:r>
            <a:endParaRPr lang="en-US" sz="1000" dirty="0"/>
          </a:p>
        </p:txBody>
      </p:sp>
      <p:sp>
        <p:nvSpPr>
          <p:cNvPr id="23" name="Shape 18"/>
          <p:cNvSpPr/>
          <p:nvPr/>
        </p:nvSpPr>
        <p:spPr>
          <a:xfrm>
            <a:off x="731520" y="4800600"/>
            <a:ext cx="7680960" cy="411480"/>
          </a:xfrm>
          <a:prstGeom prst="rect">
            <a:avLst/>
          </a:prstGeom>
          <a:solidFill>
            <a:srgbClr val="1E293B"/>
          </a:solidFill>
          <a:ln/>
        </p:spPr>
      </p:sp>
      <p:pic>
        <p:nvPicPr>
          <p:cNvPr id="24" name="Image 3" descr="preencoded.png">    </p:cNvPr>
          <p:cNvPicPr>
            <a:picLocks noChangeAspect="1"/>
          </p:cNvPicPr>
          <p:nvPr/>
        </p:nvPicPr>
        <p:blipFill>
          <a:blip r:embed="rId4"/>
          <a:stretch>
            <a:fillRect/>
          </a:stretch>
        </p:blipFill>
        <p:spPr>
          <a:xfrm>
            <a:off x="914400" y="4864608"/>
            <a:ext cx="274320" cy="274320"/>
          </a:xfrm>
          <a:prstGeom prst="rect">
            <a:avLst/>
          </a:prstGeom>
        </p:spPr>
      </p:pic>
      <p:sp>
        <p:nvSpPr>
          <p:cNvPr id="25" name="Text 19"/>
          <p:cNvSpPr/>
          <p:nvPr/>
        </p:nvSpPr>
        <p:spPr>
          <a:xfrm>
            <a:off x="1325880" y="4800600"/>
            <a:ext cx="6858000" cy="411480"/>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MCP = agent ↔ tools.  A2A = agent ↔ agent.  Together they form the open agentic ecosystem.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Defining Agent Personas</a:t>
            </a:r>
            <a:endParaRPr lang="en-US" sz="3000" dirty="0"/>
          </a:p>
        </p:txBody>
      </p:sp>
      <p:sp>
        <p:nvSpPr>
          <p:cNvPr id="3" name="Text 1"/>
          <p:cNvSpPr/>
          <p:nvPr/>
        </p:nvSpPr>
        <p:spPr>
          <a:xfrm>
            <a:off x="731520" y="822960"/>
            <a:ext cx="768096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Each agent is defined by three attributes — role, goal, and backstory. The LLM adopts the persona.</a:t>
            </a:r>
            <a:endParaRPr lang="en-US" sz="1600" dirty="0"/>
          </a:p>
        </p:txBody>
      </p:sp>
      <p:sp>
        <p:nvSpPr>
          <p:cNvPr id="4" name="Shape 2"/>
          <p:cNvSpPr/>
          <p:nvPr/>
        </p:nvSpPr>
        <p:spPr>
          <a:xfrm>
            <a:off x="731520" y="1417320"/>
            <a:ext cx="2468880" cy="3291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417320"/>
            <a:ext cx="2468880" cy="54864"/>
          </a:xfrm>
          <a:prstGeom prst="rect">
            <a:avLst/>
          </a:prstGeom>
          <a:solidFill>
            <a:srgbClr val="3B82F6"/>
          </a:solidFill>
          <a:ln/>
        </p:spPr>
      </p:sp>
      <p:pic>
        <p:nvPicPr>
          <p:cNvPr id="6" name="Image 0" descr="preencoded.png">    </p:cNvPr>
          <p:cNvPicPr>
            <a:picLocks noChangeAspect="1"/>
          </p:cNvPicPr>
          <p:nvPr/>
        </p:nvPicPr>
        <p:blipFill>
          <a:blip r:embed="rId1"/>
          <a:stretch>
            <a:fillRect/>
          </a:stretch>
        </p:blipFill>
        <p:spPr>
          <a:xfrm>
            <a:off x="1600200" y="1600200"/>
            <a:ext cx="548640" cy="548640"/>
          </a:xfrm>
          <a:prstGeom prst="rect">
            <a:avLst/>
          </a:prstGeom>
        </p:spPr>
      </p:pic>
      <p:sp>
        <p:nvSpPr>
          <p:cNvPr id="7" name="Text 4"/>
          <p:cNvSpPr/>
          <p:nvPr/>
        </p:nvSpPr>
        <p:spPr>
          <a:xfrm>
            <a:off x="731520" y="2240280"/>
            <a:ext cx="2468880" cy="274320"/>
          </a:xfrm>
          <a:prstGeom prst="rect">
            <a:avLst/>
          </a:prstGeom>
          <a:noFill/>
          <a:ln/>
        </p:spPr>
        <p:txBody>
          <a:bodyPr wrap="square" lIns="0" tIns="0" rIns="0" bIns="0" rtlCol="0" anchor="ctr"/>
          <a:lstStyle/>
          <a:p>
            <a:pPr algn="ctr" indent="0" marL="0">
              <a:buNone/>
            </a:pPr>
            <a:r>
              <a:rPr lang="en-US" sz="1300" b="1" dirty="0">
                <a:solidFill>
                  <a:srgbClr val="3B82F6"/>
                </a:solidFill>
                <a:latin typeface="Trebuchet MS" pitchFamily="34" charset="0"/>
                <a:ea typeface="Trebuchet MS" pitchFamily="34" charset="-122"/>
                <a:cs typeface="Trebuchet MS" pitchFamily="34" charset="-120"/>
              </a:rPr>
              <a:t>Technical Lead</a:t>
            </a:r>
            <a:endParaRPr lang="en-US" sz="1300" dirty="0"/>
          </a:p>
        </p:txBody>
      </p:sp>
      <p:sp>
        <p:nvSpPr>
          <p:cNvPr id="8" name="Text 5"/>
          <p:cNvSpPr/>
          <p:nvPr/>
        </p:nvSpPr>
        <p:spPr>
          <a:xfrm>
            <a:off x="914400" y="2606040"/>
            <a:ext cx="210312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Goal:</a:t>
            </a:r>
            <a:endParaRPr lang="en-US" sz="1000" dirty="0"/>
          </a:p>
        </p:txBody>
      </p:sp>
      <p:sp>
        <p:nvSpPr>
          <p:cNvPr id="9" name="Text 6"/>
          <p:cNvSpPr/>
          <p:nvPr/>
        </p:nvSpPr>
        <p:spPr>
          <a:xfrm>
            <a:off x="914400" y="2807208"/>
            <a:ext cx="210312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Extract material quantities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and technical risks from</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the client SOW.</a:t>
            </a:r>
            <a:endParaRPr lang="en-US" sz="1000" dirty="0"/>
          </a:p>
        </p:txBody>
      </p:sp>
      <p:sp>
        <p:nvSpPr>
          <p:cNvPr id="10" name="Text 7"/>
          <p:cNvSpPr/>
          <p:nvPr/>
        </p:nvSpPr>
        <p:spPr>
          <a:xfrm>
            <a:off x="914400" y="3456432"/>
            <a:ext cx="210312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Backstory:</a:t>
            </a:r>
            <a:endParaRPr lang="en-US" sz="1000" dirty="0"/>
          </a:p>
        </p:txBody>
      </p:sp>
      <p:sp>
        <p:nvSpPr>
          <p:cNvPr id="11" name="Text 8"/>
          <p:cNvSpPr/>
          <p:nvPr/>
        </p:nvSpPr>
        <p:spPr>
          <a:xfrm>
            <a:off x="914400" y="3657600"/>
            <a:ext cx="210312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 veteran Transrail engineer</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who spots technical flaws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 tenders.</a:t>
            </a:r>
            <a:endParaRPr lang="en-US" sz="1000" dirty="0"/>
          </a:p>
        </p:txBody>
      </p:sp>
      <p:sp>
        <p:nvSpPr>
          <p:cNvPr id="12" name="Shape 9"/>
          <p:cNvSpPr/>
          <p:nvPr/>
        </p:nvSpPr>
        <p:spPr>
          <a:xfrm>
            <a:off x="3474720" y="1417320"/>
            <a:ext cx="2468880" cy="3291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0"/>
          <p:cNvSpPr/>
          <p:nvPr/>
        </p:nvSpPr>
        <p:spPr>
          <a:xfrm>
            <a:off x="3474720" y="1417320"/>
            <a:ext cx="2468880" cy="54864"/>
          </a:xfrm>
          <a:prstGeom prst="rect">
            <a:avLst/>
          </a:prstGeom>
          <a:solidFill>
            <a:srgbClr val="F59E0B"/>
          </a:solidFill>
          <a:ln/>
        </p:spPr>
      </p:sp>
      <p:pic>
        <p:nvPicPr>
          <p:cNvPr id="14" name="Image 1" descr="preencoded.png">    </p:cNvPr>
          <p:cNvPicPr>
            <a:picLocks noChangeAspect="1"/>
          </p:cNvPicPr>
          <p:nvPr/>
        </p:nvPicPr>
        <p:blipFill>
          <a:blip r:embed="rId2"/>
          <a:stretch>
            <a:fillRect/>
          </a:stretch>
        </p:blipFill>
        <p:spPr>
          <a:xfrm>
            <a:off x="4343400" y="1600200"/>
            <a:ext cx="548640" cy="548640"/>
          </a:xfrm>
          <a:prstGeom prst="rect">
            <a:avLst/>
          </a:prstGeom>
        </p:spPr>
      </p:pic>
      <p:sp>
        <p:nvSpPr>
          <p:cNvPr id="15" name="Text 11"/>
          <p:cNvSpPr/>
          <p:nvPr/>
        </p:nvSpPr>
        <p:spPr>
          <a:xfrm>
            <a:off x="3474720" y="2240280"/>
            <a:ext cx="2468880" cy="274320"/>
          </a:xfrm>
          <a:prstGeom prst="rect">
            <a:avLst/>
          </a:prstGeom>
          <a:noFill/>
          <a:ln/>
        </p:spPr>
        <p:txBody>
          <a:bodyPr wrap="square" lIns="0" tIns="0" rIns="0" bIns="0" rtlCol="0" anchor="ctr"/>
          <a:lstStyle/>
          <a:p>
            <a:pPr algn="ctr" indent="0" marL="0">
              <a:buNone/>
            </a:pPr>
            <a:r>
              <a:rPr lang="en-US" sz="1300" b="1" dirty="0">
                <a:solidFill>
                  <a:srgbClr val="F59E0B"/>
                </a:solidFill>
                <a:latin typeface="Trebuchet MS" pitchFamily="34" charset="0"/>
                <a:ea typeface="Trebuchet MS" pitchFamily="34" charset="-122"/>
                <a:cs typeface="Trebuchet MS" pitchFamily="34" charset="-120"/>
              </a:rPr>
              <a:t>Procurement Head</a:t>
            </a:r>
            <a:endParaRPr lang="en-US" sz="1300" dirty="0"/>
          </a:p>
        </p:txBody>
      </p:sp>
      <p:sp>
        <p:nvSpPr>
          <p:cNvPr id="16" name="Text 12"/>
          <p:cNvSpPr/>
          <p:nvPr/>
        </p:nvSpPr>
        <p:spPr>
          <a:xfrm>
            <a:off x="3657600" y="2606040"/>
            <a:ext cx="210312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Goal:</a:t>
            </a:r>
            <a:endParaRPr lang="en-US" sz="1000" dirty="0"/>
          </a:p>
        </p:txBody>
      </p:sp>
      <p:sp>
        <p:nvSpPr>
          <p:cNvPr id="17" name="Text 13"/>
          <p:cNvSpPr/>
          <p:nvPr/>
        </p:nvSpPr>
        <p:spPr>
          <a:xfrm>
            <a:off x="3657600" y="2807208"/>
            <a:ext cx="210312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Price the extracted materials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and flag supply chain</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risks.</a:t>
            </a:r>
            <a:endParaRPr lang="en-US" sz="1000" dirty="0"/>
          </a:p>
        </p:txBody>
      </p:sp>
      <p:sp>
        <p:nvSpPr>
          <p:cNvPr id="18" name="Text 14"/>
          <p:cNvSpPr/>
          <p:nvPr/>
        </p:nvSpPr>
        <p:spPr>
          <a:xfrm>
            <a:off x="3657600" y="3456432"/>
            <a:ext cx="210312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Backstory:</a:t>
            </a:r>
            <a:endParaRPr lang="en-US" sz="1000" dirty="0"/>
          </a:p>
        </p:txBody>
      </p:sp>
      <p:sp>
        <p:nvSpPr>
          <p:cNvPr id="19" name="Text 15"/>
          <p:cNvSpPr/>
          <p:nvPr/>
        </p:nvSpPr>
        <p:spPr>
          <a:xfrm>
            <a:off x="3657600" y="3657600"/>
            <a:ext cx="210312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Deep knowledge of global</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steel prices and shipping</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logistics.</a:t>
            </a:r>
            <a:endParaRPr lang="en-US" sz="1000" dirty="0"/>
          </a:p>
        </p:txBody>
      </p:sp>
      <p:sp>
        <p:nvSpPr>
          <p:cNvPr id="20" name="Shape 16"/>
          <p:cNvSpPr/>
          <p:nvPr/>
        </p:nvSpPr>
        <p:spPr>
          <a:xfrm>
            <a:off x="6217920" y="1417320"/>
            <a:ext cx="2468880" cy="3291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7"/>
          <p:cNvSpPr/>
          <p:nvPr/>
        </p:nvSpPr>
        <p:spPr>
          <a:xfrm>
            <a:off x="6217920" y="1417320"/>
            <a:ext cx="2468880" cy="54864"/>
          </a:xfrm>
          <a:prstGeom prst="rect">
            <a:avLst/>
          </a:prstGeom>
          <a:solidFill>
            <a:srgbClr val="10B981"/>
          </a:solidFill>
          <a:ln/>
        </p:spPr>
      </p:sp>
      <p:pic>
        <p:nvPicPr>
          <p:cNvPr id="22" name="Image 2" descr="preencoded.png">    </p:cNvPr>
          <p:cNvPicPr>
            <a:picLocks noChangeAspect="1"/>
          </p:cNvPicPr>
          <p:nvPr/>
        </p:nvPicPr>
        <p:blipFill>
          <a:blip r:embed="rId3"/>
          <a:stretch>
            <a:fillRect/>
          </a:stretch>
        </p:blipFill>
        <p:spPr>
          <a:xfrm>
            <a:off x="7086600" y="1600200"/>
            <a:ext cx="548640" cy="548640"/>
          </a:xfrm>
          <a:prstGeom prst="rect">
            <a:avLst/>
          </a:prstGeom>
        </p:spPr>
      </p:pic>
      <p:sp>
        <p:nvSpPr>
          <p:cNvPr id="23" name="Text 18"/>
          <p:cNvSpPr/>
          <p:nvPr/>
        </p:nvSpPr>
        <p:spPr>
          <a:xfrm>
            <a:off x="6217920" y="2240280"/>
            <a:ext cx="2468880" cy="274320"/>
          </a:xfrm>
          <a:prstGeom prst="rect">
            <a:avLst/>
          </a:prstGeom>
          <a:noFill/>
          <a:ln/>
        </p:spPr>
        <p:txBody>
          <a:bodyPr wrap="square" lIns="0" tIns="0" rIns="0" bIns="0" rtlCol="0" anchor="ctr"/>
          <a:lstStyle/>
          <a:p>
            <a:pPr algn="ctr" indent="0" marL="0">
              <a:buNone/>
            </a:pPr>
            <a:r>
              <a:rPr lang="en-US" sz="1300" b="1" dirty="0">
                <a:solidFill>
                  <a:srgbClr val="10B981"/>
                </a:solidFill>
                <a:latin typeface="Trebuchet MS" pitchFamily="34" charset="0"/>
                <a:ea typeface="Trebuchet MS" pitchFamily="34" charset="-122"/>
                <a:cs typeface="Trebuchet MS" pitchFamily="34" charset="-120"/>
              </a:rPr>
              <a:t>Commercial Director</a:t>
            </a:r>
            <a:endParaRPr lang="en-US" sz="1300" dirty="0"/>
          </a:p>
        </p:txBody>
      </p:sp>
      <p:sp>
        <p:nvSpPr>
          <p:cNvPr id="24" name="Text 19"/>
          <p:cNvSpPr/>
          <p:nvPr/>
        </p:nvSpPr>
        <p:spPr>
          <a:xfrm>
            <a:off x="6400800" y="2606040"/>
            <a:ext cx="210312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Goal:</a:t>
            </a:r>
            <a:endParaRPr lang="en-US" sz="1000" dirty="0"/>
          </a:p>
        </p:txBody>
      </p:sp>
      <p:sp>
        <p:nvSpPr>
          <p:cNvPr id="25" name="Text 20"/>
          <p:cNvSpPr/>
          <p:nvPr/>
        </p:nvSpPr>
        <p:spPr>
          <a:xfrm>
            <a:off x="6400800" y="2807208"/>
            <a:ext cx="210312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Take tech &amp; procurement</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inputs, add 15% margin,</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and draft the bid letter.</a:t>
            </a:r>
            <a:endParaRPr lang="en-US" sz="1000" dirty="0"/>
          </a:p>
        </p:txBody>
      </p:sp>
      <p:sp>
        <p:nvSpPr>
          <p:cNvPr id="26" name="Text 21"/>
          <p:cNvSpPr/>
          <p:nvPr/>
        </p:nvSpPr>
        <p:spPr>
          <a:xfrm>
            <a:off x="6400800" y="3456432"/>
            <a:ext cx="210312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Backstory:</a:t>
            </a:r>
            <a:endParaRPr lang="en-US" sz="1000" dirty="0"/>
          </a:p>
        </p:txBody>
      </p:sp>
      <p:sp>
        <p:nvSpPr>
          <p:cNvPr id="27" name="Text 22"/>
          <p:cNvSpPr/>
          <p:nvPr/>
        </p:nvSpPr>
        <p:spPr>
          <a:xfrm>
            <a:off x="6400800" y="3657600"/>
            <a:ext cx="210312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Responsible for ensuring</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Transrail wins the bid</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while remaining profitable.</a:t>
            </a:r>
            <a:endParaRPr lang="en-US" sz="1000" dirty="0"/>
          </a:p>
        </p:txBody>
      </p:sp>
      <p:sp>
        <p:nvSpPr>
          <p:cNvPr id="28" name="Shape 23"/>
          <p:cNvSpPr/>
          <p:nvPr/>
        </p:nvSpPr>
        <p:spPr>
          <a:xfrm>
            <a:off x="731520" y="4846320"/>
            <a:ext cx="7680960" cy="411480"/>
          </a:xfrm>
          <a:prstGeom prst="rect">
            <a:avLst/>
          </a:prstGeom>
          <a:solidFill>
            <a:srgbClr val="EEF2FF"/>
          </a:solidFill>
          <a:ln/>
        </p:spPr>
      </p:sp>
      <p:pic>
        <p:nvPicPr>
          <p:cNvPr id="29" name="Image 3" descr="preencoded.png">    </p:cNvPr>
          <p:cNvPicPr>
            <a:picLocks noChangeAspect="1"/>
          </p:cNvPicPr>
          <p:nvPr/>
        </p:nvPicPr>
        <p:blipFill>
          <a:blip r:embed="rId4"/>
          <a:stretch>
            <a:fillRect/>
          </a:stretch>
        </p:blipFill>
        <p:spPr>
          <a:xfrm>
            <a:off x="914400" y="4910328"/>
            <a:ext cx="274320" cy="274320"/>
          </a:xfrm>
          <a:prstGeom prst="rect">
            <a:avLst/>
          </a:prstGeom>
        </p:spPr>
      </p:pic>
      <p:sp>
        <p:nvSpPr>
          <p:cNvPr id="30" name="Text 24"/>
          <p:cNvSpPr/>
          <p:nvPr/>
        </p:nvSpPr>
        <p:spPr>
          <a:xfrm>
            <a:off x="1325880" y="4846320"/>
            <a:ext cx="685800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The backstory is the secret sauce — it shapes the agent's reasoning style and domain expertise.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Sequential Task Handoff</a:t>
            </a:r>
            <a:endParaRPr lang="en-US" sz="3000" dirty="0"/>
          </a:p>
        </p:txBody>
      </p:sp>
      <p:sp>
        <p:nvSpPr>
          <p:cNvPr id="3" name="Text 1"/>
          <p:cNvSpPr/>
          <p:nvPr/>
        </p:nvSpPr>
        <p:spPr>
          <a:xfrm>
            <a:off x="731520" y="777240"/>
            <a:ext cx="7680960" cy="36576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Each agent completes its task, then passes output as context to the next agent.</a:t>
            </a:r>
            <a:endParaRPr lang="en-US" sz="1600" dirty="0"/>
          </a:p>
        </p:txBody>
      </p:sp>
      <p:sp>
        <p:nvSpPr>
          <p:cNvPr id="4" name="Shape 2"/>
          <p:cNvSpPr/>
          <p:nvPr/>
        </p:nvSpPr>
        <p:spPr>
          <a:xfrm>
            <a:off x="320040" y="1417320"/>
            <a:ext cx="1920240" cy="265176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5" name="Shape 3"/>
          <p:cNvSpPr/>
          <p:nvPr/>
        </p:nvSpPr>
        <p:spPr>
          <a:xfrm>
            <a:off x="320040" y="1417320"/>
            <a:ext cx="1920240" cy="54864"/>
          </a:xfrm>
          <a:prstGeom prst="rect">
            <a:avLst/>
          </a:prstGeom>
          <a:solidFill>
            <a:srgbClr val="64748B"/>
          </a:solidFill>
          <a:ln/>
        </p:spPr>
      </p:sp>
      <p:pic>
        <p:nvPicPr>
          <p:cNvPr id="6" name="Image 0" descr="preencoded.png">    </p:cNvPr>
          <p:cNvPicPr>
            <a:picLocks noChangeAspect="1"/>
          </p:cNvPicPr>
          <p:nvPr/>
        </p:nvPicPr>
        <p:blipFill>
          <a:blip r:embed="rId1"/>
          <a:stretch>
            <a:fillRect/>
          </a:stretch>
        </p:blipFill>
        <p:spPr>
          <a:xfrm>
            <a:off x="914400" y="1600200"/>
            <a:ext cx="548640" cy="548640"/>
          </a:xfrm>
          <a:prstGeom prst="rect">
            <a:avLst/>
          </a:prstGeom>
        </p:spPr>
      </p:pic>
      <p:sp>
        <p:nvSpPr>
          <p:cNvPr id="7" name="Text 4"/>
          <p:cNvSpPr/>
          <p:nvPr/>
        </p:nvSpPr>
        <p:spPr>
          <a:xfrm>
            <a:off x="320040" y="2286000"/>
            <a:ext cx="192024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Trebuchet MS" pitchFamily="34" charset="0"/>
                <a:ea typeface="Trebuchet MS" pitchFamily="34" charset="-122"/>
                <a:cs typeface="Trebuchet MS" pitchFamily="34" charset="-120"/>
              </a:rPr>
              <a:t>SOW Input</a:t>
            </a:r>
            <a:endParaRPr lang="en-US" sz="1200" dirty="0"/>
          </a:p>
        </p:txBody>
      </p:sp>
      <p:sp>
        <p:nvSpPr>
          <p:cNvPr id="8" name="Text 5"/>
          <p:cNvSpPr/>
          <p:nvPr/>
        </p:nvSpPr>
        <p:spPr>
          <a:xfrm>
            <a:off x="411480" y="2651760"/>
            <a:ext cx="1737360" cy="10515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400kV GIS extension,</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2 bays, 300km HTLS,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18-month delivery,</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coastal zone.</a:t>
            </a:r>
            <a:endParaRPr lang="en-US" sz="1000" dirty="0"/>
          </a:p>
        </p:txBody>
      </p:sp>
      <p:pic>
        <p:nvPicPr>
          <p:cNvPr id="9" name="Image 1" descr="preencoded.png">    </p:cNvPr>
          <p:cNvPicPr>
            <a:picLocks noChangeAspect="1"/>
          </p:cNvPicPr>
          <p:nvPr/>
        </p:nvPicPr>
        <p:blipFill>
          <a:blip r:embed="rId2"/>
          <a:stretch>
            <a:fillRect/>
          </a:stretch>
        </p:blipFill>
        <p:spPr>
          <a:xfrm>
            <a:off x="2240280" y="2331720"/>
            <a:ext cx="228600" cy="228600"/>
          </a:xfrm>
          <a:prstGeom prst="rect">
            <a:avLst/>
          </a:prstGeom>
        </p:spPr>
      </p:pic>
      <p:sp>
        <p:nvSpPr>
          <p:cNvPr id="10" name="Shape 6"/>
          <p:cNvSpPr/>
          <p:nvPr/>
        </p:nvSpPr>
        <p:spPr>
          <a:xfrm>
            <a:off x="2514600" y="1417320"/>
            <a:ext cx="1920240" cy="265176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1" name="Shape 7"/>
          <p:cNvSpPr/>
          <p:nvPr/>
        </p:nvSpPr>
        <p:spPr>
          <a:xfrm>
            <a:off x="2514600" y="1417320"/>
            <a:ext cx="1920240" cy="54864"/>
          </a:xfrm>
          <a:prstGeom prst="rect">
            <a:avLst/>
          </a:prstGeom>
          <a:solidFill>
            <a:srgbClr val="3B82F6"/>
          </a:solidFill>
          <a:ln/>
        </p:spPr>
      </p:sp>
      <p:pic>
        <p:nvPicPr>
          <p:cNvPr id="12" name="Image 2" descr="preencoded.png">    </p:cNvPr>
          <p:cNvPicPr>
            <a:picLocks noChangeAspect="1"/>
          </p:cNvPicPr>
          <p:nvPr/>
        </p:nvPicPr>
        <p:blipFill>
          <a:blip r:embed="rId3"/>
          <a:stretch>
            <a:fillRect/>
          </a:stretch>
        </p:blipFill>
        <p:spPr>
          <a:xfrm>
            <a:off x="3108960" y="1600200"/>
            <a:ext cx="548640" cy="548640"/>
          </a:xfrm>
          <a:prstGeom prst="rect">
            <a:avLst/>
          </a:prstGeom>
        </p:spPr>
      </p:pic>
      <p:sp>
        <p:nvSpPr>
          <p:cNvPr id="13" name="Text 8"/>
          <p:cNvSpPr/>
          <p:nvPr/>
        </p:nvSpPr>
        <p:spPr>
          <a:xfrm>
            <a:off x="2514600" y="2286000"/>
            <a:ext cx="1920240" cy="320040"/>
          </a:xfrm>
          <a:prstGeom prst="rect">
            <a:avLst/>
          </a:prstGeom>
          <a:noFill/>
          <a:ln/>
        </p:spPr>
        <p:txBody>
          <a:bodyPr wrap="square" lIns="0" tIns="0" rIns="0" bIns="0" rtlCol="0" anchor="ctr"/>
          <a:lstStyle/>
          <a:p>
            <a:pPr algn="ctr" indent="0" marL="0">
              <a:buNone/>
            </a:pPr>
            <a:r>
              <a:rPr lang="en-US" sz="1200" b="1" dirty="0">
                <a:solidFill>
                  <a:srgbClr val="3B82F6"/>
                </a:solidFill>
                <a:latin typeface="Trebuchet MS" pitchFamily="34" charset="0"/>
                <a:ea typeface="Trebuchet MS" pitchFamily="34" charset="-122"/>
                <a:cs typeface="Trebuchet MS" pitchFamily="34" charset="-120"/>
              </a:rPr>
              <a:t>Technical Lead</a:t>
            </a:r>
            <a:endParaRPr lang="en-US" sz="1200" dirty="0"/>
          </a:p>
        </p:txBody>
      </p:sp>
      <p:sp>
        <p:nvSpPr>
          <p:cNvPr id="14" name="Text 9"/>
          <p:cNvSpPr/>
          <p:nvPr/>
        </p:nvSpPr>
        <p:spPr>
          <a:xfrm>
            <a:off x="2606040" y="2651760"/>
            <a:ext cx="1737360" cy="10515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Extracted: 2 GIS Bays,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300km HTLS conductor.</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Flag: High-wind coastal</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 anti-corrosion needed.</a:t>
            </a:r>
            <a:endParaRPr lang="en-US" sz="1000" dirty="0"/>
          </a:p>
        </p:txBody>
      </p:sp>
      <p:pic>
        <p:nvPicPr>
          <p:cNvPr id="15" name="Image 3" descr="preencoded.png">    </p:cNvPr>
          <p:cNvPicPr>
            <a:picLocks noChangeAspect="1"/>
          </p:cNvPicPr>
          <p:nvPr/>
        </p:nvPicPr>
        <p:blipFill>
          <a:blip r:embed="rId4"/>
          <a:stretch>
            <a:fillRect/>
          </a:stretch>
        </p:blipFill>
        <p:spPr>
          <a:xfrm>
            <a:off x="4434840" y="2331720"/>
            <a:ext cx="228600" cy="228600"/>
          </a:xfrm>
          <a:prstGeom prst="rect">
            <a:avLst/>
          </a:prstGeom>
        </p:spPr>
      </p:pic>
      <p:sp>
        <p:nvSpPr>
          <p:cNvPr id="16" name="Shape 10"/>
          <p:cNvSpPr/>
          <p:nvPr/>
        </p:nvSpPr>
        <p:spPr>
          <a:xfrm>
            <a:off x="4709160" y="1417320"/>
            <a:ext cx="1920240" cy="265176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7" name="Shape 11"/>
          <p:cNvSpPr/>
          <p:nvPr/>
        </p:nvSpPr>
        <p:spPr>
          <a:xfrm>
            <a:off x="4709160" y="1417320"/>
            <a:ext cx="1920240" cy="54864"/>
          </a:xfrm>
          <a:prstGeom prst="rect">
            <a:avLst/>
          </a:prstGeom>
          <a:solidFill>
            <a:srgbClr val="F59E0B"/>
          </a:solidFill>
          <a:ln/>
        </p:spPr>
      </p:sp>
      <p:pic>
        <p:nvPicPr>
          <p:cNvPr id="18" name="Image 4" descr="preencoded.png">    </p:cNvPr>
          <p:cNvPicPr>
            <a:picLocks noChangeAspect="1"/>
          </p:cNvPicPr>
          <p:nvPr/>
        </p:nvPicPr>
        <p:blipFill>
          <a:blip r:embed="rId5"/>
          <a:stretch>
            <a:fillRect/>
          </a:stretch>
        </p:blipFill>
        <p:spPr>
          <a:xfrm>
            <a:off x="5303520" y="1600200"/>
            <a:ext cx="548640" cy="548640"/>
          </a:xfrm>
          <a:prstGeom prst="rect">
            <a:avLst/>
          </a:prstGeom>
        </p:spPr>
      </p:pic>
      <p:sp>
        <p:nvSpPr>
          <p:cNvPr id="19" name="Text 12"/>
          <p:cNvSpPr/>
          <p:nvPr/>
        </p:nvSpPr>
        <p:spPr>
          <a:xfrm>
            <a:off x="4709160" y="2286000"/>
            <a:ext cx="1920240" cy="320040"/>
          </a:xfrm>
          <a:prstGeom prst="rect">
            <a:avLst/>
          </a:prstGeom>
          <a:noFill/>
          <a:ln/>
        </p:spPr>
        <p:txBody>
          <a:bodyPr wrap="square" lIns="0" tIns="0" rIns="0" bIns="0" rtlCol="0" anchor="ctr"/>
          <a:lstStyle/>
          <a:p>
            <a:pPr algn="ctr" indent="0" marL="0">
              <a:buNone/>
            </a:pPr>
            <a:r>
              <a:rPr lang="en-US" sz="1200" b="1" dirty="0">
                <a:solidFill>
                  <a:srgbClr val="F59E0B"/>
                </a:solidFill>
                <a:latin typeface="Trebuchet MS" pitchFamily="34" charset="0"/>
                <a:ea typeface="Trebuchet MS" pitchFamily="34" charset="-122"/>
                <a:cs typeface="Trebuchet MS" pitchFamily="34" charset="-120"/>
              </a:rPr>
              <a:t>Procurement</a:t>
            </a:r>
            <a:endParaRPr lang="en-US" sz="1200" dirty="0"/>
          </a:p>
        </p:txBody>
      </p:sp>
      <p:sp>
        <p:nvSpPr>
          <p:cNvPr id="20" name="Text 13"/>
          <p:cNvSpPr/>
          <p:nvPr/>
        </p:nvSpPr>
        <p:spPr>
          <a:xfrm>
            <a:off x="4800600" y="2651760"/>
            <a:ext cx="1737360" cy="10515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GIS: $4M, HTLS: $1.2M,</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Anti-corrosion: +$300k.</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Total cost estimate: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$5.5M.</a:t>
            </a:r>
            <a:endParaRPr lang="en-US" sz="1000" dirty="0"/>
          </a:p>
        </p:txBody>
      </p:sp>
      <p:pic>
        <p:nvPicPr>
          <p:cNvPr id="21" name="Image 5" descr="preencoded.png">    </p:cNvPr>
          <p:cNvPicPr>
            <a:picLocks noChangeAspect="1"/>
          </p:cNvPicPr>
          <p:nvPr/>
        </p:nvPicPr>
        <p:blipFill>
          <a:blip r:embed="rId6"/>
          <a:stretch>
            <a:fillRect/>
          </a:stretch>
        </p:blipFill>
        <p:spPr>
          <a:xfrm>
            <a:off x="6629400" y="2331720"/>
            <a:ext cx="228600" cy="228600"/>
          </a:xfrm>
          <a:prstGeom prst="rect">
            <a:avLst/>
          </a:prstGeom>
        </p:spPr>
      </p:pic>
      <p:sp>
        <p:nvSpPr>
          <p:cNvPr id="22" name="Shape 14"/>
          <p:cNvSpPr/>
          <p:nvPr/>
        </p:nvSpPr>
        <p:spPr>
          <a:xfrm>
            <a:off x="6903720" y="1417320"/>
            <a:ext cx="1920240" cy="265176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23" name="Shape 15"/>
          <p:cNvSpPr/>
          <p:nvPr/>
        </p:nvSpPr>
        <p:spPr>
          <a:xfrm>
            <a:off x="6903720" y="1417320"/>
            <a:ext cx="1920240" cy="54864"/>
          </a:xfrm>
          <a:prstGeom prst="rect">
            <a:avLst/>
          </a:prstGeom>
          <a:solidFill>
            <a:srgbClr val="10B981"/>
          </a:solidFill>
          <a:ln/>
        </p:spPr>
      </p:sp>
      <p:pic>
        <p:nvPicPr>
          <p:cNvPr id="24" name="Image 6" descr="preencoded.png">    </p:cNvPr>
          <p:cNvPicPr>
            <a:picLocks noChangeAspect="1"/>
          </p:cNvPicPr>
          <p:nvPr/>
        </p:nvPicPr>
        <p:blipFill>
          <a:blip r:embed="rId7"/>
          <a:stretch>
            <a:fillRect/>
          </a:stretch>
        </p:blipFill>
        <p:spPr>
          <a:xfrm>
            <a:off x="7498080" y="1600200"/>
            <a:ext cx="548640" cy="548640"/>
          </a:xfrm>
          <a:prstGeom prst="rect">
            <a:avLst/>
          </a:prstGeom>
        </p:spPr>
      </p:pic>
      <p:sp>
        <p:nvSpPr>
          <p:cNvPr id="25" name="Text 16"/>
          <p:cNvSpPr/>
          <p:nvPr/>
        </p:nvSpPr>
        <p:spPr>
          <a:xfrm>
            <a:off x="6903720" y="2286000"/>
            <a:ext cx="1920240" cy="320040"/>
          </a:xfrm>
          <a:prstGeom prst="rect">
            <a:avLst/>
          </a:prstGeom>
          <a:noFill/>
          <a:ln/>
        </p:spPr>
        <p:txBody>
          <a:bodyPr wrap="square" lIns="0" tIns="0" rIns="0" bIns="0" rtlCol="0" anchor="ctr"/>
          <a:lstStyle/>
          <a:p>
            <a:pPr algn="ctr" indent="0" marL="0">
              <a:buNone/>
            </a:pPr>
            <a:r>
              <a:rPr lang="en-US" sz="1200" b="1" dirty="0">
                <a:solidFill>
                  <a:srgbClr val="10B981"/>
                </a:solidFill>
                <a:latin typeface="Trebuchet MS" pitchFamily="34" charset="0"/>
                <a:ea typeface="Trebuchet MS" pitchFamily="34" charset="-122"/>
                <a:cs typeface="Trebuchet MS" pitchFamily="34" charset="-120"/>
              </a:rPr>
              <a:t>Commercial</a:t>
            </a:r>
            <a:endParaRPr lang="en-US" sz="1200" dirty="0"/>
          </a:p>
        </p:txBody>
      </p:sp>
      <p:sp>
        <p:nvSpPr>
          <p:cNvPr id="26" name="Text 17"/>
          <p:cNvSpPr/>
          <p:nvPr/>
        </p:nvSpPr>
        <p:spPr>
          <a:xfrm>
            <a:off x="6995160" y="2651760"/>
            <a:ext cx="1737360" cy="10515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Cost $5.5M + 15% margin</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($825k) + 5% risk buffer</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($275k).</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Final bid: $6.6M.</a:t>
            </a:r>
            <a:endParaRPr lang="en-US" sz="1000" dirty="0"/>
          </a:p>
        </p:txBody>
      </p:sp>
      <p:sp>
        <p:nvSpPr>
          <p:cNvPr id="27" name="Shape 18"/>
          <p:cNvSpPr/>
          <p:nvPr/>
        </p:nvSpPr>
        <p:spPr>
          <a:xfrm>
            <a:off x="731520" y="4297680"/>
            <a:ext cx="7680960" cy="594360"/>
          </a:xfrm>
          <a:prstGeom prst="rect">
            <a:avLst/>
          </a:prstGeom>
          <a:solidFill>
            <a:srgbClr val="1E293B"/>
          </a:solidFill>
          <a:ln/>
        </p:spPr>
      </p:sp>
      <p:pic>
        <p:nvPicPr>
          <p:cNvPr id="28" name="Image 7" descr="preencoded.png">    </p:cNvPr>
          <p:cNvPicPr>
            <a:picLocks noChangeAspect="1"/>
          </p:cNvPicPr>
          <p:nvPr/>
        </p:nvPicPr>
        <p:blipFill>
          <a:blip r:embed="rId8"/>
          <a:stretch>
            <a:fillRect/>
          </a:stretch>
        </p:blipFill>
        <p:spPr>
          <a:xfrm>
            <a:off x="914400" y="4407408"/>
            <a:ext cx="320040" cy="320040"/>
          </a:xfrm>
          <a:prstGeom prst="rect">
            <a:avLst/>
          </a:prstGeom>
        </p:spPr>
      </p:pic>
      <p:sp>
        <p:nvSpPr>
          <p:cNvPr id="29" name="Text 19"/>
          <p:cNvSpPr/>
          <p:nvPr/>
        </p:nvSpPr>
        <p:spPr>
          <a:xfrm>
            <a:off x="1371600" y="4297680"/>
            <a:ext cx="6858000" cy="594360"/>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Output: A holistic bid letter — $6.6M — combining engineering, cost, and commercial reasoning.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Observability: Trust the Swarm</a:t>
            </a:r>
            <a:endParaRPr lang="en-US" sz="3000" dirty="0"/>
          </a:p>
        </p:txBody>
      </p:sp>
      <p:sp>
        <p:nvSpPr>
          <p:cNvPr id="3" name="Text 1"/>
          <p:cNvSpPr/>
          <p:nvPr/>
        </p:nvSpPr>
        <p:spPr>
          <a:xfrm>
            <a:off x="731520" y="914400"/>
            <a:ext cx="768096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How can a human trust three AIs talking to each other? You need to see what they're thinking.</a:t>
            </a:r>
            <a:endParaRPr lang="en-US" sz="1600" dirty="0"/>
          </a:p>
        </p:txBody>
      </p:sp>
      <p:sp>
        <p:nvSpPr>
          <p:cNvPr id="4" name="Shape 2"/>
          <p:cNvSpPr/>
          <p:nvPr/>
        </p:nvSpPr>
        <p:spPr>
          <a:xfrm>
            <a:off x="731520" y="1554480"/>
            <a:ext cx="768096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554480"/>
            <a:ext cx="54864" cy="1005840"/>
          </a:xfrm>
          <a:prstGeom prst="rect">
            <a:avLst/>
          </a:prstGeom>
          <a:solidFill>
            <a:srgbClr val="EF4444"/>
          </a:solidFill>
          <a:ln/>
        </p:spPr>
      </p:sp>
      <p:sp>
        <p:nvSpPr>
          <p:cNvPr id="6" name="Text 4"/>
          <p:cNvSpPr/>
          <p:nvPr/>
        </p:nvSpPr>
        <p:spPr>
          <a:xfrm>
            <a:off x="1005840" y="1691640"/>
            <a:ext cx="3657600" cy="365760"/>
          </a:xfrm>
          <a:prstGeom prst="rect">
            <a:avLst/>
          </a:prstGeom>
          <a:noFill/>
          <a:ln/>
        </p:spPr>
        <p:txBody>
          <a:bodyPr wrap="square" lIns="0" tIns="0" rIns="0" bIns="0" rtlCol="0" anchor="ctr"/>
          <a:lstStyle/>
          <a:p>
            <a:pPr indent="0" marL="0">
              <a:buNone/>
            </a:pPr>
            <a:r>
              <a:rPr lang="en-US" sz="1600" b="1" dirty="0">
                <a:solidFill>
                  <a:srgbClr val="EF4444"/>
                </a:solidFill>
                <a:latin typeface="Trebuchet MS" pitchFamily="34" charset="0"/>
                <a:ea typeface="Trebuchet MS" pitchFamily="34" charset="-122"/>
                <a:cs typeface="Trebuchet MS" pitchFamily="34" charset="-120"/>
              </a:rPr>
              <a:t>Without Observability</a:t>
            </a:r>
            <a:endParaRPr lang="en-US" sz="1600" dirty="0"/>
          </a:p>
        </p:txBody>
      </p:sp>
      <p:sp>
        <p:nvSpPr>
          <p:cNvPr id="7" name="Text 5"/>
          <p:cNvSpPr/>
          <p:nvPr/>
        </p:nvSpPr>
        <p:spPr>
          <a:xfrm>
            <a:off x="1005840" y="2148840"/>
            <a:ext cx="713232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You press "Go" and 30 seconds later get a bid letter. Was the cost right? Did Agent 2 miss a risk? No way to know.</a:t>
            </a:r>
            <a:endParaRPr lang="en-US" sz="1200" dirty="0"/>
          </a:p>
        </p:txBody>
      </p:sp>
      <p:sp>
        <p:nvSpPr>
          <p:cNvPr id="8" name="Shape 6"/>
          <p:cNvSpPr/>
          <p:nvPr/>
        </p:nvSpPr>
        <p:spPr>
          <a:xfrm>
            <a:off x="731520" y="2788920"/>
            <a:ext cx="768096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731520" y="2788920"/>
            <a:ext cx="54864" cy="1005840"/>
          </a:xfrm>
          <a:prstGeom prst="rect">
            <a:avLst/>
          </a:prstGeom>
          <a:solidFill>
            <a:srgbClr val="22C55E"/>
          </a:solidFill>
          <a:ln/>
        </p:spPr>
      </p:sp>
      <p:sp>
        <p:nvSpPr>
          <p:cNvPr id="10" name="Text 8"/>
          <p:cNvSpPr/>
          <p:nvPr/>
        </p:nvSpPr>
        <p:spPr>
          <a:xfrm>
            <a:off x="1005840" y="2926080"/>
            <a:ext cx="4572000" cy="365760"/>
          </a:xfrm>
          <a:prstGeom prst="rect">
            <a:avLst/>
          </a:prstGeom>
          <a:noFill/>
          <a:ln/>
        </p:spPr>
        <p:txBody>
          <a:bodyPr wrap="square" lIns="0" tIns="0" rIns="0" bIns="0" rtlCol="0" anchor="ctr"/>
          <a:lstStyle/>
          <a:p>
            <a:pPr indent="0" marL="0">
              <a:buNone/>
            </a:pPr>
            <a:r>
              <a:rPr lang="en-US" sz="1600" b="1" dirty="0">
                <a:solidFill>
                  <a:srgbClr val="22C55E"/>
                </a:solidFill>
                <a:latin typeface="Trebuchet MS" pitchFamily="34" charset="0"/>
                <a:ea typeface="Trebuchet MS" pitchFamily="34" charset="-122"/>
                <a:cs typeface="Trebuchet MS" pitchFamily="34" charset="-120"/>
              </a:rPr>
              <a:t>With Observability Dashboard</a:t>
            </a:r>
            <a:endParaRPr lang="en-US" sz="1600" dirty="0"/>
          </a:p>
        </p:txBody>
      </p:sp>
      <p:sp>
        <p:nvSpPr>
          <p:cNvPr id="11" name="Text 9"/>
          <p:cNvSpPr/>
          <p:nvPr/>
        </p:nvSpPr>
        <p:spPr>
          <a:xfrm>
            <a:off x="1005840" y="3383280"/>
            <a:ext cx="713232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You watch each agent's reasoning in real time. See the handoff. Catch bad logic mid-flight. Intercept before it's too late.</a:t>
            </a:r>
            <a:endParaRPr lang="en-US" sz="1200" dirty="0"/>
          </a:p>
        </p:txBody>
      </p:sp>
      <p:sp>
        <p:nvSpPr>
          <p:cNvPr id="12" name="Shape 10"/>
          <p:cNvSpPr/>
          <p:nvPr/>
        </p:nvSpPr>
        <p:spPr>
          <a:xfrm>
            <a:off x="731520" y="4023360"/>
            <a:ext cx="2468880" cy="5029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0" descr="preencoded.png">    </p:cNvPr>
          <p:cNvPicPr>
            <a:picLocks noChangeAspect="1"/>
          </p:cNvPicPr>
          <p:nvPr/>
        </p:nvPicPr>
        <p:blipFill>
          <a:blip r:embed="rId1"/>
          <a:stretch>
            <a:fillRect/>
          </a:stretch>
        </p:blipFill>
        <p:spPr>
          <a:xfrm>
            <a:off x="868680" y="4096512"/>
            <a:ext cx="274320" cy="274320"/>
          </a:xfrm>
          <a:prstGeom prst="rect">
            <a:avLst/>
          </a:prstGeom>
        </p:spPr>
      </p:pic>
      <p:sp>
        <p:nvSpPr>
          <p:cNvPr id="14" name="Text 11"/>
          <p:cNvSpPr/>
          <p:nvPr/>
        </p:nvSpPr>
        <p:spPr>
          <a:xfrm>
            <a:off x="1188720" y="4023360"/>
            <a:ext cx="1828800" cy="502920"/>
          </a:xfrm>
          <a:prstGeom prst="rect">
            <a:avLst/>
          </a:prstGeom>
          <a:noFill/>
          <a:ln/>
        </p:spPr>
        <p:txBody>
          <a:bodyPr wrap="square" lIns="0" tIns="0" rIns="0" bIns="0" rtlCol="0" anchor="ctr"/>
          <a:lstStyle/>
          <a:p>
            <a:pPr indent="0" marL="0">
              <a:buNone/>
            </a:pPr>
            <a:r>
              <a:rPr lang="en-US" sz="1100" b="1" dirty="0">
                <a:solidFill>
                  <a:srgbClr val="6366F1"/>
                </a:solidFill>
                <a:latin typeface="Calibri" pitchFamily="34" charset="0"/>
                <a:ea typeface="Calibri" pitchFamily="34" charset="-122"/>
                <a:cs typeface="Calibri" pitchFamily="34" charset="-120"/>
              </a:rPr>
              <a:t>Agent Conversations</a:t>
            </a:r>
            <a:endParaRPr lang="en-US" sz="1100" dirty="0"/>
          </a:p>
        </p:txBody>
      </p:sp>
      <p:sp>
        <p:nvSpPr>
          <p:cNvPr id="15" name="Shape 12"/>
          <p:cNvSpPr/>
          <p:nvPr/>
        </p:nvSpPr>
        <p:spPr>
          <a:xfrm>
            <a:off x="3474720" y="4023360"/>
            <a:ext cx="2468880" cy="5029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3611880" y="4096512"/>
            <a:ext cx="274320" cy="274320"/>
          </a:xfrm>
          <a:prstGeom prst="rect">
            <a:avLst/>
          </a:prstGeom>
        </p:spPr>
      </p:pic>
      <p:sp>
        <p:nvSpPr>
          <p:cNvPr id="17" name="Text 13"/>
          <p:cNvSpPr/>
          <p:nvPr/>
        </p:nvSpPr>
        <p:spPr>
          <a:xfrm>
            <a:off x="3931920" y="4023360"/>
            <a:ext cx="1828800" cy="502920"/>
          </a:xfrm>
          <a:prstGeom prst="rect">
            <a:avLst/>
          </a:prstGeom>
          <a:noFill/>
          <a:ln/>
        </p:spPr>
        <p:txBody>
          <a:bodyPr wrap="square" lIns="0" tIns="0" rIns="0" bIns="0"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Real-Time Monitoring</a:t>
            </a:r>
            <a:endParaRPr lang="en-US" sz="1100" dirty="0"/>
          </a:p>
        </p:txBody>
      </p:sp>
      <p:sp>
        <p:nvSpPr>
          <p:cNvPr id="18" name="Shape 14"/>
          <p:cNvSpPr/>
          <p:nvPr/>
        </p:nvSpPr>
        <p:spPr>
          <a:xfrm>
            <a:off x="6217920" y="4023360"/>
            <a:ext cx="2468880" cy="5029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9" name="Image 2" descr="preencoded.png">    </p:cNvPr>
          <p:cNvPicPr>
            <a:picLocks noChangeAspect="1"/>
          </p:cNvPicPr>
          <p:nvPr/>
        </p:nvPicPr>
        <p:blipFill>
          <a:blip r:embed="rId3"/>
          <a:stretch>
            <a:fillRect/>
          </a:stretch>
        </p:blipFill>
        <p:spPr>
          <a:xfrm>
            <a:off x="6355080" y="4096512"/>
            <a:ext cx="274320" cy="274320"/>
          </a:xfrm>
          <a:prstGeom prst="rect">
            <a:avLst/>
          </a:prstGeom>
        </p:spPr>
      </p:pic>
      <p:sp>
        <p:nvSpPr>
          <p:cNvPr id="20" name="Text 15"/>
          <p:cNvSpPr/>
          <p:nvPr/>
        </p:nvSpPr>
        <p:spPr>
          <a:xfrm>
            <a:off x="6675120" y="4023360"/>
            <a:ext cx="1828800" cy="502920"/>
          </a:xfrm>
          <a:prstGeom prst="rect">
            <a:avLst/>
          </a:prstGeom>
          <a:noFill/>
          <a:ln/>
        </p:spPr>
        <p:txBody>
          <a:bodyPr wrap="square" lIns="0" tIns="0" rIns="0" bIns="0"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Decision Audit Trail</a:t>
            </a:r>
            <a:endParaRPr lang="en-US" sz="1100" dirty="0"/>
          </a:p>
        </p:txBody>
      </p:sp>
      <p:sp>
        <p:nvSpPr>
          <p:cNvPr id="21" name="Shape 16"/>
          <p:cNvSpPr/>
          <p:nvPr/>
        </p:nvSpPr>
        <p:spPr>
          <a:xfrm>
            <a:off x="731520" y="4709160"/>
            <a:ext cx="7680960" cy="411480"/>
          </a:xfrm>
          <a:prstGeom prst="rect">
            <a:avLst/>
          </a:prstGeom>
          <a:solidFill>
            <a:srgbClr val="F0FDF4"/>
          </a:solidFill>
          <a:ln/>
        </p:spPr>
      </p:sp>
      <p:pic>
        <p:nvPicPr>
          <p:cNvPr id="22" name="Image 3" descr="preencoded.png">    </p:cNvPr>
          <p:cNvPicPr>
            <a:picLocks noChangeAspect="1"/>
          </p:cNvPicPr>
          <p:nvPr/>
        </p:nvPicPr>
        <p:blipFill>
          <a:blip r:embed="rId4"/>
          <a:stretch>
            <a:fillRect/>
          </a:stretch>
        </p:blipFill>
        <p:spPr>
          <a:xfrm>
            <a:off x="914400" y="4773168"/>
            <a:ext cx="274320" cy="274320"/>
          </a:xfrm>
          <a:prstGeom prst="rect">
            <a:avLst/>
          </a:prstGeom>
        </p:spPr>
      </p:pic>
      <p:sp>
        <p:nvSpPr>
          <p:cNvPr id="23" name="Text 17"/>
          <p:cNvSpPr/>
          <p:nvPr/>
        </p:nvSpPr>
        <p:spPr>
          <a:xfrm>
            <a:off x="1325880" y="4709160"/>
            <a:ext cx="685800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HCI Principle: Transparency builds trust. If humans can't see agent reasoning, they won't trust the output.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The Tech Stack</a:t>
            </a:r>
            <a:endParaRPr lang="en-US" sz="3600" dirty="0"/>
          </a:p>
        </p:txBody>
      </p:sp>
      <p:sp>
        <p:nvSpPr>
          <p:cNvPr id="3" name="Text 1"/>
          <p:cNvSpPr/>
          <p:nvPr/>
        </p:nvSpPr>
        <p:spPr>
          <a:xfrm>
            <a:off x="731520" y="914400"/>
            <a:ext cx="7680960" cy="36576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Building your swarm with CrewAI or Microsoft AutoGen:</a:t>
            </a:r>
            <a:endParaRPr lang="en-US" sz="1600" dirty="0"/>
          </a:p>
        </p:txBody>
      </p:sp>
      <p:sp>
        <p:nvSpPr>
          <p:cNvPr id="4" name="Shape 2"/>
          <p:cNvSpPr/>
          <p:nvPr/>
        </p:nvSpPr>
        <p:spPr>
          <a:xfrm>
            <a:off x="731520" y="1554480"/>
            <a:ext cx="2468880" cy="274320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554480"/>
            <a:ext cx="2468880" cy="54864"/>
          </a:xfrm>
          <a:prstGeom prst="rect">
            <a:avLst/>
          </a:prstGeom>
          <a:solidFill>
            <a:srgbClr val="6366F1"/>
          </a:solidFill>
          <a:ln/>
        </p:spPr>
      </p:sp>
      <p:pic>
        <p:nvPicPr>
          <p:cNvPr id="6" name="Image 0" descr="preencoded.png">    </p:cNvPr>
          <p:cNvPicPr>
            <a:picLocks noChangeAspect="1"/>
          </p:cNvPicPr>
          <p:nvPr/>
        </p:nvPicPr>
        <p:blipFill>
          <a:blip r:embed="rId1"/>
          <a:stretch>
            <a:fillRect/>
          </a:stretch>
        </p:blipFill>
        <p:spPr>
          <a:xfrm>
            <a:off x="1554480" y="1783080"/>
            <a:ext cx="640080" cy="640080"/>
          </a:xfrm>
          <a:prstGeom prst="rect">
            <a:avLst/>
          </a:prstGeom>
        </p:spPr>
      </p:pic>
      <p:sp>
        <p:nvSpPr>
          <p:cNvPr id="7" name="Text 4"/>
          <p:cNvSpPr/>
          <p:nvPr/>
        </p:nvSpPr>
        <p:spPr>
          <a:xfrm>
            <a:off x="731520" y="2560320"/>
            <a:ext cx="2468880" cy="365760"/>
          </a:xfrm>
          <a:prstGeom prst="rect">
            <a:avLst/>
          </a:prstGeom>
          <a:noFill/>
          <a:ln/>
        </p:spPr>
        <p:txBody>
          <a:bodyPr wrap="square" lIns="0" tIns="0" rIns="0" bIns="0" rtlCol="0" anchor="ctr"/>
          <a:lstStyle/>
          <a:p>
            <a:pPr algn="ctr" indent="0" marL="0">
              <a:buNone/>
            </a:pPr>
            <a:r>
              <a:rPr lang="en-US" sz="1600" b="1" dirty="0">
                <a:solidFill>
                  <a:srgbClr val="6366F1"/>
                </a:solidFill>
                <a:latin typeface="Trebuchet MS" pitchFamily="34" charset="0"/>
                <a:ea typeface="Trebuchet MS" pitchFamily="34" charset="-122"/>
                <a:cs typeface="Trebuchet MS" pitchFamily="34" charset="-120"/>
              </a:rPr>
              <a:t>CrewAI</a:t>
            </a:r>
            <a:endParaRPr lang="en-US" sz="1600" dirty="0"/>
          </a:p>
        </p:txBody>
      </p:sp>
      <p:sp>
        <p:nvSpPr>
          <p:cNvPr id="8" name="Text 5"/>
          <p:cNvSpPr/>
          <p:nvPr/>
        </p:nvSpPr>
        <p:spPr>
          <a:xfrm>
            <a:off x="868680" y="2971800"/>
            <a:ext cx="2194560" cy="10515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Define Agents, Tasks, and</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a Crew. Sequential or</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hierarchical process.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Simplest multi-agent API.</a:t>
            </a:r>
            <a:endParaRPr lang="en-US" sz="1200" dirty="0"/>
          </a:p>
        </p:txBody>
      </p:sp>
      <p:sp>
        <p:nvSpPr>
          <p:cNvPr id="9" name="Shape 6"/>
          <p:cNvSpPr/>
          <p:nvPr/>
        </p:nvSpPr>
        <p:spPr>
          <a:xfrm>
            <a:off x="3474720" y="1554480"/>
            <a:ext cx="2468880" cy="274320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0" name="Shape 7"/>
          <p:cNvSpPr/>
          <p:nvPr/>
        </p:nvSpPr>
        <p:spPr>
          <a:xfrm>
            <a:off x="3474720" y="1554480"/>
            <a:ext cx="2468880" cy="54864"/>
          </a:xfrm>
          <a:prstGeom prst="rect">
            <a:avLst/>
          </a:prstGeom>
          <a:solidFill>
            <a:srgbClr val="F97316"/>
          </a:solidFill>
          <a:ln/>
        </p:spPr>
      </p:sp>
      <p:pic>
        <p:nvPicPr>
          <p:cNvPr id="11" name="Image 1" descr="preencoded.png">    </p:cNvPr>
          <p:cNvPicPr>
            <a:picLocks noChangeAspect="1"/>
          </p:cNvPicPr>
          <p:nvPr/>
        </p:nvPicPr>
        <p:blipFill>
          <a:blip r:embed="rId2"/>
          <a:stretch>
            <a:fillRect/>
          </a:stretch>
        </p:blipFill>
        <p:spPr>
          <a:xfrm>
            <a:off x="4297680" y="1783080"/>
            <a:ext cx="640080" cy="640080"/>
          </a:xfrm>
          <a:prstGeom prst="rect">
            <a:avLst/>
          </a:prstGeom>
        </p:spPr>
      </p:pic>
      <p:sp>
        <p:nvSpPr>
          <p:cNvPr id="12" name="Text 8"/>
          <p:cNvSpPr/>
          <p:nvPr/>
        </p:nvSpPr>
        <p:spPr>
          <a:xfrm>
            <a:off x="3474720" y="2560320"/>
            <a:ext cx="2468880" cy="365760"/>
          </a:xfrm>
          <a:prstGeom prst="rect">
            <a:avLst/>
          </a:prstGeom>
          <a:noFill/>
          <a:ln/>
        </p:spPr>
        <p:txBody>
          <a:bodyPr wrap="square" lIns="0" tIns="0" rIns="0" bIns="0" rtlCol="0" anchor="ctr"/>
          <a:lstStyle/>
          <a:p>
            <a:pPr algn="ctr" indent="0" marL="0">
              <a:buNone/>
            </a:pPr>
            <a:r>
              <a:rPr lang="en-US" sz="1600" b="1" dirty="0">
                <a:solidFill>
                  <a:srgbClr val="F97316"/>
                </a:solidFill>
                <a:latin typeface="Trebuchet MS" pitchFamily="34" charset="0"/>
                <a:ea typeface="Trebuchet MS" pitchFamily="34" charset="-122"/>
                <a:cs typeface="Trebuchet MS" pitchFamily="34" charset="-120"/>
              </a:rPr>
              <a:t>Agent Personas</a:t>
            </a:r>
            <a:endParaRPr lang="en-US" sz="1600" dirty="0"/>
          </a:p>
        </p:txBody>
      </p:sp>
      <p:sp>
        <p:nvSpPr>
          <p:cNvPr id="13" name="Text 9"/>
          <p:cNvSpPr/>
          <p:nvPr/>
        </p:nvSpPr>
        <p:spPr>
          <a:xfrm>
            <a:off x="3611880" y="2971800"/>
            <a:ext cx="2194560" cy="10515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Each agent gets role, goal,</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and backstory. The LLM</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adopts the persona to</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reason in character.</a:t>
            </a:r>
            <a:endParaRPr lang="en-US" sz="1200" dirty="0"/>
          </a:p>
        </p:txBody>
      </p:sp>
      <p:sp>
        <p:nvSpPr>
          <p:cNvPr id="14" name="Shape 10"/>
          <p:cNvSpPr/>
          <p:nvPr/>
        </p:nvSpPr>
        <p:spPr>
          <a:xfrm>
            <a:off x="6217920" y="1554480"/>
            <a:ext cx="2468880" cy="274320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5" name="Shape 11"/>
          <p:cNvSpPr/>
          <p:nvPr/>
        </p:nvSpPr>
        <p:spPr>
          <a:xfrm>
            <a:off x="6217920" y="1554480"/>
            <a:ext cx="2468880" cy="54864"/>
          </a:xfrm>
          <a:prstGeom prst="rect">
            <a:avLst/>
          </a:prstGeom>
          <a:solidFill>
            <a:srgbClr val="22C55E"/>
          </a:solidFill>
          <a:ln/>
        </p:spPr>
      </p:sp>
      <p:pic>
        <p:nvPicPr>
          <p:cNvPr id="16" name="Image 2" descr="preencoded.png">    </p:cNvPr>
          <p:cNvPicPr>
            <a:picLocks noChangeAspect="1"/>
          </p:cNvPicPr>
          <p:nvPr/>
        </p:nvPicPr>
        <p:blipFill>
          <a:blip r:embed="rId3"/>
          <a:stretch>
            <a:fillRect/>
          </a:stretch>
        </p:blipFill>
        <p:spPr>
          <a:xfrm>
            <a:off x="7040880" y="1783080"/>
            <a:ext cx="640080" cy="640080"/>
          </a:xfrm>
          <a:prstGeom prst="rect">
            <a:avLst/>
          </a:prstGeom>
        </p:spPr>
      </p:pic>
      <p:sp>
        <p:nvSpPr>
          <p:cNvPr id="17" name="Text 12"/>
          <p:cNvSpPr/>
          <p:nvPr/>
        </p:nvSpPr>
        <p:spPr>
          <a:xfrm>
            <a:off x="6217920" y="2560320"/>
            <a:ext cx="2468880" cy="365760"/>
          </a:xfrm>
          <a:prstGeom prst="rect">
            <a:avLst/>
          </a:prstGeom>
          <a:noFill/>
          <a:ln/>
        </p:spPr>
        <p:txBody>
          <a:bodyPr wrap="square" lIns="0" tIns="0" rIns="0" bIns="0" rtlCol="0" anchor="ctr"/>
          <a:lstStyle/>
          <a:p>
            <a:pPr algn="ctr" indent="0" marL="0">
              <a:buNone/>
            </a:pPr>
            <a:r>
              <a:rPr lang="en-US" sz="1600" b="1" dirty="0">
                <a:solidFill>
                  <a:srgbClr val="22C55E"/>
                </a:solidFill>
                <a:latin typeface="Trebuchet MS" pitchFamily="34" charset="0"/>
                <a:ea typeface="Trebuchet MS" pitchFamily="34" charset="-122"/>
                <a:cs typeface="Trebuchet MS" pitchFamily="34" charset="-120"/>
              </a:rPr>
              <a:t>Observability</a:t>
            </a:r>
            <a:endParaRPr lang="en-US" sz="1600" dirty="0"/>
          </a:p>
        </p:txBody>
      </p:sp>
      <p:sp>
        <p:nvSpPr>
          <p:cNvPr id="18" name="Text 13"/>
          <p:cNvSpPr/>
          <p:nvPr/>
        </p:nvSpPr>
        <p:spPr>
          <a:xfrm>
            <a:off x="6355080" y="2971800"/>
            <a:ext cx="2194560" cy="10515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Stream agent output in</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real time. Watch handoffs,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reasoning, and data flow</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through the pipeline.</a:t>
            </a:r>
            <a:endParaRPr lang="en-US" sz="1200" dirty="0"/>
          </a:p>
        </p:txBody>
      </p:sp>
      <p:sp>
        <p:nvSpPr>
          <p:cNvPr id="19" name="Shape 14"/>
          <p:cNvSpPr/>
          <p:nvPr/>
        </p:nvSpPr>
        <p:spPr>
          <a:xfrm>
            <a:off x="731520" y="4526280"/>
            <a:ext cx="7680960" cy="411480"/>
          </a:xfrm>
          <a:prstGeom prst="rect">
            <a:avLst/>
          </a:prstGeom>
          <a:solidFill>
            <a:srgbClr val="1E293B"/>
          </a:solidFill>
          <a:ln/>
        </p:spPr>
      </p:sp>
      <p:pic>
        <p:nvPicPr>
          <p:cNvPr id="20" name="Image 3" descr="preencoded.png">    </p:cNvPr>
          <p:cNvPicPr>
            <a:picLocks noChangeAspect="1"/>
          </p:cNvPicPr>
          <p:nvPr/>
        </p:nvPicPr>
        <p:blipFill>
          <a:blip r:embed="rId4"/>
          <a:stretch>
            <a:fillRect/>
          </a:stretch>
        </p:blipFill>
        <p:spPr>
          <a:xfrm>
            <a:off x="914400" y="4590288"/>
            <a:ext cx="274320" cy="274320"/>
          </a:xfrm>
          <a:prstGeom prst="rect">
            <a:avLst/>
          </a:prstGeom>
        </p:spPr>
      </p:pic>
      <p:sp>
        <p:nvSpPr>
          <p:cNvPr id="21" name="Text 15"/>
          <p:cNvSpPr/>
          <p:nvPr/>
        </p:nvSpPr>
        <p:spPr>
          <a:xfrm>
            <a:off x="1325880" y="4526280"/>
            <a:ext cx="6858000" cy="411480"/>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CrewAI's Crew(process=sequential) runs agents one after another — each gets the previous agent's output.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3600" b="1" dirty="0">
                <a:solidFill>
                  <a:srgbClr val="1E293B"/>
                </a:solidFill>
                <a:latin typeface="Trebuchet MS" pitchFamily="34" charset="0"/>
                <a:ea typeface="Trebuchet MS" pitchFamily="34" charset="-122"/>
                <a:cs typeface="Trebuchet MS" pitchFamily="34" charset="-120"/>
              </a:rPr>
              <a:t>What You'll Build</a:t>
            </a:r>
            <a:endParaRPr lang="en-US" sz="3600" dirty="0"/>
          </a:p>
        </p:txBody>
      </p:sp>
      <p:sp>
        <p:nvSpPr>
          <p:cNvPr id="3" name="Shape 1"/>
          <p:cNvSpPr/>
          <p:nvPr/>
        </p:nvSpPr>
        <p:spPr>
          <a:xfrm>
            <a:off x="731520" y="1005840"/>
            <a:ext cx="7680960" cy="3749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731520" y="1005840"/>
            <a:ext cx="7680960" cy="411480"/>
          </a:xfrm>
          <a:prstGeom prst="rect">
            <a:avLst/>
          </a:prstGeom>
          <a:solidFill>
            <a:srgbClr val="6366F1"/>
          </a:solidFill>
          <a:ln/>
        </p:spPr>
      </p:sp>
      <p:sp>
        <p:nvSpPr>
          <p:cNvPr id="5" name="Text 3"/>
          <p:cNvSpPr/>
          <p:nvPr/>
        </p:nvSpPr>
        <p:spPr>
          <a:xfrm>
            <a:off x="1005840" y="1005840"/>
            <a:ext cx="713232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Swarm Observability Dashboard</a:t>
            </a:r>
            <a:endParaRPr lang="en-US" sz="1200" dirty="0"/>
          </a:p>
        </p:txBody>
      </p:sp>
      <p:sp>
        <p:nvSpPr>
          <p:cNvPr id="6" name="Shape 4"/>
          <p:cNvSpPr/>
          <p:nvPr/>
        </p:nvSpPr>
        <p:spPr>
          <a:xfrm>
            <a:off x="1005840" y="1600200"/>
            <a:ext cx="1463040" cy="228600"/>
          </a:xfrm>
          <a:prstGeom prst="rect">
            <a:avLst/>
          </a:prstGeom>
          <a:solidFill>
            <a:srgbClr val="3B82F6"/>
          </a:solidFill>
          <a:ln/>
        </p:spPr>
      </p:sp>
      <p:sp>
        <p:nvSpPr>
          <p:cNvPr id="7" name="Text 5"/>
          <p:cNvSpPr/>
          <p:nvPr/>
        </p:nvSpPr>
        <p:spPr>
          <a:xfrm>
            <a:off x="1005840" y="1600200"/>
            <a:ext cx="146304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Technical Lead</a:t>
            </a:r>
            <a:endParaRPr lang="en-US" sz="900" dirty="0"/>
          </a:p>
        </p:txBody>
      </p:sp>
      <p:sp>
        <p:nvSpPr>
          <p:cNvPr id="8" name="Shape 6"/>
          <p:cNvSpPr/>
          <p:nvPr/>
        </p:nvSpPr>
        <p:spPr>
          <a:xfrm>
            <a:off x="1005840" y="1874520"/>
            <a:ext cx="7132320" cy="365760"/>
          </a:xfrm>
          <a:prstGeom prst="rect">
            <a:avLst/>
          </a:prstGeom>
          <a:solidFill>
            <a:srgbClr val="F8FAFC"/>
          </a:solidFill>
          <a:ln/>
        </p:spPr>
      </p:sp>
      <p:sp>
        <p:nvSpPr>
          <p:cNvPr id="9" name="Text 7"/>
          <p:cNvSpPr/>
          <p:nvPr/>
        </p:nvSpPr>
        <p:spPr>
          <a:xfrm>
            <a:off x="1188720" y="1874520"/>
            <a:ext cx="676656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Analyzing SOW. Extracted: 2 GIS Bays, 300km HTLS. Flag: High wind coastal zone requires anti-corrosion coating.</a:t>
            </a:r>
            <a:endParaRPr lang="en-US" sz="1000" dirty="0"/>
          </a:p>
        </p:txBody>
      </p:sp>
      <p:sp>
        <p:nvSpPr>
          <p:cNvPr id="10" name="Shape 8"/>
          <p:cNvSpPr/>
          <p:nvPr/>
        </p:nvSpPr>
        <p:spPr>
          <a:xfrm>
            <a:off x="1005840" y="2331720"/>
            <a:ext cx="1463040" cy="228600"/>
          </a:xfrm>
          <a:prstGeom prst="rect">
            <a:avLst/>
          </a:prstGeom>
          <a:solidFill>
            <a:srgbClr val="F59E0B"/>
          </a:solidFill>
          <a:ln/>
        </p:spPr>
      </p:sp>
      <p:sp>
        <p:nvSpPr>
          <p:cNvPr id="11" name="Text 9"/>
          <p:cNvSpPr/>
          <p:nvPr/>
        </p:nvSpPr>
        <p:spPr>
          <a:xfrm>
            <a:off x="1005840" y="2331720"/>
            <a:ext cx="146304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Procurement Head</a:t>
            </a:r>
            <a:endParaRPr lang="en-US" sz="900" dirty="0"/>
          </a:p>
        </p:txBody>
      </p:sp>
      <p:sp>
        <p:nvSpPr>
          <p:cNvPr id="12" name="Shape 10"/>
          <p:cNvSpPr/>
          <p:nvPr/>
        </p:nvSpPr>
        <p:spPr>
          <a:xfrm>
            <a:off x="1005840" y="2606040"/>
            <a:ext cx="7132320" cy="365760"/>
          </a:xfrm>
          <a:prstGeom prst="rect">
            <a:avLst/>
          </a:prstGeom>
          <a:solidFill>
            <a:srgbClr val="F8FAFC"/>
          </a:solidFill>
          <a:ln/>
        </p:spPr>
      </p:sp>
      <p:sp>
        <p:nvSpPr>
          <p:cNvPr id="13" name="Text 11"/>
          <p:cNvSpPr/>
          <p:nvPr/>
        </p:nvSpPr>
        <p:spPr>
          <a:xfrm>
            <a:off x="1188720" y="2606040"/>
            <a:ext cx="676656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Pricing materials. Base GIS: $4M. HTLS: $1.2M. Anti-corrosion: +$300k. Total Cost: $5.5M.</a:t>
            </a:r>
            <a:endParaRPr lang="en-US" sz="1000" dirty="0"/>
          </a:p>
        </p:txBody>
      </p:sp>
      <p:sp>
        <p:nvSpPr>
          <p:cNvPr id="14" name="Shape 12"/>
          <p:cNvSpPr/>
          <p:nvPr/>
        </p:nvSpPr>
        <p:spPr>
          <a:xfrm>
            <a:off x="1005840" y="3063240"/>
            <a:ext cx="1463040" cy="228600"/>
          </a:xfrm>
          <a:prstGeom prst="rect">
            <a:avLst/>
          </a:prstGeom>
          <a:solidFill>
            <a:srgbClr val="10B981"/>
          </a:solidFill>
          <a:ln/>
        </p:spPr>
      </p:sp>
      <p:sp>
        <p:nvSpPr>
          <p:cNvPr id="15" name="Text 13"/>
          <p:cNvSpPr/>
          <p:nvPr/>
        </p:nvSpPr>
        <p:spPr>
          <a:xfrm>
            <a:off x="1005840" y="3063240"/>
            <a:ext cx="146304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Commercial Director</a:t>
            </a:r>
            <a:endParaRPr lang="en-US" sz="900" dirty="0"/>
          </a:p>
        </p:txBody>
      </p:sp>
      <p:sp>
        <p:nvSpPr>
          <p:cNvPr id="16" name="Shape 14"/>
          <p:cNvSpPr/>
          <p:nvPr/>
        </p:nvSpPr>
        <p:spPr>
          <a:xfrm>
            <a:off x="1005840" y="3337560"/>
            <a:ext cx="7132320" cy="365760"/>
          </a:xfrm>
          <a:prstGeom prst="rect">
            <a:avLst/>
          </a:prstGeom>
          <a:solidFill>
            <a:srgbClr val="F8FAFC"/>
          </a:solidFill>
          <a:ln/>
        </p:spPr>
      </p:sp>
      <p:sp>
        <p:nvSpPr>
          <p:cNvPr id="17" name="Text 15"/>
          <p:cNvSpPr/>
          <p:nvPr/>
        </p:nvSpPr>
        <p:spPr>
          <a:xfrm>
            <a:off x="1188720" y="3337560"/>
            <a:ext cx="676656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Reviewing $5.5M cost. Adding 15% margin ($825k) + 5% coastal risk buffer ($275k). Final Bid: $6.6M.</a:t>
            </a:r>
            <a:endParaRPr lang="en-US" sz="1000" dirty="0"/>
          </a:p>
        </p:txBody>
      </p:sp>
      <p:sp>
        <p:nvSpPr>
          <p:cNvPr id="18" name="Shape 16"/>
          <p:cNvSpPr/>
          <p:nvPr/>
        </p:nvSpPr>
        <p:spPr>
          <a:xfrm>
            <a:off x="731520" y="4160520"/>
            <a:ext cx="7680960" cy="502920"/>
          </a:xfrm>
          <a:prstGeom prst="rect">
            <a:avLst/>
          </a:prstGeom>
          <a:solidFill>
            <a:srgbClr val="F0FDF4"/>
          </a:solidFill>
          <a:ln/>
        </p:spPr>
      </p:sp>
      <p:pic>
        <p:nvPicPr>
          <p:cNvPr id="19" name="Image 0" descr="preencoded.png">    </p:cNvPr>
          <p:cNvPicPr>
            <a:picLocks noChangeAspect="1"/>
          </p:cNvPicPr>
          <p:nvPr/>
        </p:nvPicPr>
        <p:blipFill>
          <a:blip r:embed="rId1"/>
          <a:stretch>
            <a:fillRect/>
          </a:stretch>
        </p:blipFill>
        <p:spPr>
          <a:xfrm>
            <a:off x="914400" y="4233672"/>
            <a:ext cx="274320" cy="274320"/>
          </a:xfrm>
          <a:prstGeom prst="rect">
            <a:avLst/>
          </a:prstGeom>
        </p:spPr>
      </p:pic>
      <p:sp>
        <p:nvSpPr>
          <p:cNvPr id="20" name="Text 17"/>
          <p:cNvSpPr/>
          <p:nvPr/>
        </p:nvSpPr>
        <p:spPr>
          <a:xfrm>
            <a:off x="1325880" y="4160520"/>
            <a:ext cx="5029200" cy="5029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Final Commercial Bid Letter Generated ($6.6M)    </a:t>
            </a:r>
            <a:endParaRPr lang="en-US" sz="1200" dirty="0"/>
          </a:p>
        </p:txBody>
      </p:sp>
      <p:sp>
        <p:nvSpPr>
          <p:cNvPr id="21" name="Shape 18"/>
          <p:cNvSpPr/>
          <p:nvPr/>
        </p:nvSpPr>
        <p:spPr>
          <a:xfrm>
            <a:off x="6583680" y="4251960"/>
            <a:ext cx="1554480" cy="320040"/>
          </a:xfrm>
          <a:prstGeom prst="rect">
            <a:avLst/>
          </a:prstGeom>
          <a:solidFill>
            <a:srgbClr val="22C55E"/>
          </a:solidFill>
          <a:ln/>
        </p:spPr>
      </p:sp>
      <p:sp>
        <p:nvSpPr>
          <p:cNvPr id="22" name="Text 19"/>
          <p:cNvSpPr/>
          <p:nvPr/>
        </p:nvSpPr>
        <p:spPr>
          <a:xfrm>
            <a:off x="6583680" y="4251960"/>
            <a:ext cx="15544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Download Bid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Your Mission</a:t>
            </a:r>
            <a:endParaRPr lang="en-US" sz="3600" dirty="0"/>
          </a:p>
        </p:txBody>
      </p:sp>
      <p:sp>
        <p:nvSpPr>
          <p:cNvPr id="3" name="Shape 1"/>
          <p:cNvSpPr/>
          <p:nvPr/>
        </p:nvSpPr>
        <p:spPr>
          <a:xfrm>
            <a:off x="731520" y="1188720"/>
            <a:ext cx="2468880" cy="292608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4" name="Shape 2"/>
          <p:cNvSpPr/>
          <p:nvPr/>
        </p:nvSpPr>
        <p:spPr>
          <a:xfrm>
            <a:off x="1600200" y="1371600"/>
            <a:ext cx="548640" cy="548640"/>
          </a:xfrm>
          <a:prstGeom prst="ellipse">
            <a:avLst/>
          </a:prstGeom>
          <a:solidFill>
            <a:srgbClr val="6366F1"/>
          </a:solidFill>
          <a:ln/>
        </p:spPr>
      </p:sp>
      <p:sp>
        <p:nvSpPr>
          <p:cNvPr id="5" name="Text 3"/>
          <p:cNvSpPr/>
          <p:nvPr/>
        </p:nvSpPr>
        <p:spPr>
          <a:xfrm>
            <a:off x="1600200" y="1371600"/>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Trebuchet MS" pitchFamily="34" charset="0"/>
                <a:ea typeface="Trebuchet MS" pitchFamily="34" charset="-122"/>
                <a:cs typeface="Trebuchet MS" pitchFamily="34" charset="-120"/>
              </a:rPr>
              <a:t>1</a:t>
            </a:r>
            <a:endParaRPr lang="en-US" sz="2000" dirty="0"/>
          </a:p>
        </p:txBody>
      </p:sp>
      <p:pic>
        <p:nvPicPr>
          <p:cNvPr id="6" name="Image 0" descr="preencoded.png">    </p:cNvPr>
          <p:cNvPicPr>
            <a:picLocks noChangeAspect="1"/>
          </p:cNvPicPr>
          <p:nvPr/>
        </p:nvPicPr>
        <p:blipFill>
          <a:blip r:embed="rId1"/>
          <a:stretch>
            <a:fillRect/>
          </a:stretch>
        </p:blipFill>
        <p:spPr>
          <a:xfrm>
            <a:off x="1600200" y="2103120"/>
            <a:ext cx="548640" cy="548640"/>
          </a:xfrm>
          <a:prstGeom prst="rect">
            <a:avLst/>
          </a:prstGeom>
        </p:spPr>
      </p:pic>
      <p:sp>
        <p:nvSpPr>
          <p:cNvPr id="7" name="Text 4"/>
          <p:cNvSpPr/>
          <p:nvPr/>
        </p:nvSpPr>
        <p:spPr>
          <a:xfrm>
            <a:off x="731520" y="2788920"/>
            <a:ext cx="2468880" cy="365760"/>
          </a:xfrm>
          <a:prstGeom prst="rect">
            <a:avLst/>
          </a:prstGeom>
          <a:noFill/>
          <a:ln/>
        </p:spPr>
        <p:txBody>
          <a:bodyPr wrap="square" lIns="0" tIns="0" rIns="0" bIns="0" rtlCol="0" anchor="ctr"/>
          <a:lstStyle/>
          <a:p>
            <a:pPr algn="ctr" indent="0" marL="0">
              <a:buNone/>
            </a:pPr>
            <a:r>
              <a:rPr lang="en-US" sz="1600" b="1" dirty="0">
                <a:solidFill>
                  <a:srgbClr val="F97316"/>
                </a:solidFill>
                <a:latin typeface="Trebuchet MS" pitchFamily="34" charset="0"/>
                <a:ea typeface="Trebuchet MS" pitchFamily="34" charset="-122"/>
                <a:cs typeface="Trebuchet MS" pitchFamily="34" charset="-120"/>
              </a:rPr>
              <a:t>Define 3 agents</a:t>
            </a:r>
            <a:endParaRPr lang="en-US" sz="1600" dirty="0"/>
          </a:p>
        </p:txBody>
      </p:sp>
      <p:sp>
        <p:nvSpPr>
          <p:cNvPr id="8" name="Text 5"/>
          <p:cNvSpPr/>
          <p:nvPr/>
        </p:nvSpPr>
        <p:spPr>
          <a:xfrm>
            <a:off x="868680" y="3200400"/>
            <a:ext cx="2194560" cy="8229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Create Technical Lead,</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Procurement Head, and</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Commercial Director with</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role, goal, and backstory.</a:t>
            </a:r>
            <a:endParaRPr lang="en-US" sz="1200" dirty="0"/>
          </a:p>
        </p:txBody>
      </p:sp>
      <p:pic>
        <p:nvPicPr>
          <p:cNvPr id="9" name="Image 1" descr="preencoded.png">    </p:cNvPr>
          <p:cNvPicPr>
            <a:picLocks noChangeAspect="1"/>
          </p:cNvPicPr>
          <p:nvPr/>
        </p:nvPicPr>
        <p:blipFill>
          <a:blip r:embed="rId2"/>
          <a:stretch>
            <a:fillRect/>
          </a:stretch>
        </p:blipFill>
        <p:spPr>
          <a:xfrm>
            <a:off x="3246120" y="2240280"/>
            <a:ext cx="274320" cy="274320"/>
          </a:xfrm>
          <a:prstGeom prst="rect">
            <a:avLst/>
          </a:prstGeom>
        </p:spPr>
      </p:pic>
      <p:sp>
        <p:nvSpPr>
          <p:cNvPr id="10" name="Shape 6"/>
          <p:cNvSpPr/>
          <p:nvPr/>
        </p:nvSpPr>
        <p:spPr>
          <a:xfrm>
            <a:off x="3566160" y="1188720"/>
            <a:ext cx="2468880" cy="292608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1" name="Shape 7"/>
          <p:cNvSpPr/>
          <p:nvPr/>
        </p:nvSpPr>
        <p:spPr>
          <a:xfrm>
            <a:off x="4434840" y="1371600"/>
            <a:ext cx="548640" cy="548640"/>
          </a:xfrm>
          <a:prstGeom prst="ellipse">
            <a:avLst/>
          </a:prstGeom>
          <a:solidFill>
            <a:srgbClr val="6366F1"/>
          </a:solidFill>
          <a:ln/>
        </p:spPr>
      </p:sp>
      <p:sp>
        <p:nvSpPr>
          <p:cNvPr id="12" name="Text 8"/>
          <p:cNvSpPr/>
          <p:nvPr/>
        </p:nvSpPr>
        <p:spPr>
          <a:xfrm>
            <a:off x="4434840" y="1371600"/>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Trebuchet MS" pitchFamily="34" charset="0"/>
                <a:ea typeface="Trebuchet MS" pitchFamily="34" charset="-122"/>
                <a:cs typeface="Trebuchet MS" pitchFamily="34" charset="-120"/>
              </a:rPr>
              <a:t>2</a:t>
            </a:r>
            <a:endParaRPr lang="en-US" sz="2000" dirty="0"/>
          </a:p>
        </p:txBody>
      </p:sp>
      <p:pic>
        <p:nvPicPr>
          <p:cNvPr id="13" name="Image 2" descr="preencoded.png">    </p:cNvPr>
          <p:cNvPicPr>
            <a:picLocks noChangeAspect="1"/>
          </p:cNvPicPr>
          <p:nvPr/>
        </p:nvPicPr>
        <p:blipFill>
          <a:blip r:embed="rId3"/>
          <a:stretch>
            <a:fillRect/>
          </a:stretch>
        </p:blipFill>
        <p:spPr>
          <a:xfrm>
            <a:off x="4434840" y="2103120"/>
            <a:ext cx="548640" cy="548640"/>
          </a:xfrm>
          <a:prstGeom prst="rect">
            <a:avLst/>
          </a:prstGeom>
        </p:spPr>
      </p:pic>
      <p:sp>
        <p:nvSpPr>
          <p:cNvPr id="14" name="Text 9"/>
          <p:cNvSpPr/>
          <p:nvPr/>
        </p:nvSpPr>
        <p:spPr>
          <a:xfrm>
            <a:off x="3566160" y="2788920"/>
            <a:ext cx="2468880" cy="365760"/>
          </a:xfrm>
          <a:prstGeom prst="rect">
            <a:avLst/>
          </a:prstGeom>
          <a:noFill/>
          <a:ln/>
        </p:spPr>
        <p:txBody>
          <a:bodyPr wrap="square" lIns="0" tIns="0" rIns="0" bIns="0" rtlCol="0" anchor="ctr"/>
          <a:lstStyle/>
          <a:p>
            <a:pPr algn="ctr" indent="0" marL="0">
              <a:buNone/>
            </a:pPr>
            <a:r>
              <a:rPr lang="en-US" sz="1600" b="1" dirty="0">
                <a:solidFill>
                  <a:srgbClr val="F97316"/>
                </a:solidFill>
                <a:latin typeface="Trebuchet MS" pitchFamily="34" charset="0"/>
                <a:ea typeface="Trebuchet MS" pitchFamily="34" charset="-122"/>
                <a:cs typeface="Trebuchet MS" pitchFamily="34" charset="-120"/>
              </a:rPr>
              <a:t>Wire the Crew</a:t>
            </a:r>
            <a:endParaRPr lang="en-US" sz="1600" dirty="0"/>
          </a:p>
        </p:txBody>
      </p:sp>
      <p:sp>
        <p:nvSpPr>
          <p:cNvPr id="15" name="Text 10"/>
          <p:cNvSpPr/>
          <p:nvPr/>
        </p:nvSpPr>
        <p:spPr>
          <a:xfrm>
            <a:off x="3703320" y="3200400"/>
            <a:ext cx="2194560" cy="8229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Create 3 Tasks (one per</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agent). Build a Crew with</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process=sequential.</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Kick it off!</a:t>
            </a:r>
            <a:endParaRPr lang="en-US" sz="1200" dirty="0"/>
          </a:p>
        </p:txBody>
      </p:sp>
      <p:pic>
        <p:nvPicPr>
          <p:cNvPr id="16" name="Image 3" descr="preencoded.png">    </p:cNvPr>
          <p:cNvPicPr>
            <a:picLocks noChangeAspect="1"/>
          </p:cNvPicPr>
          <p:nvPr/>
        </p:nvPicPr>
        <p:blipFill>
          <a:blip r:embed="rId4"/>
          <a:stretch>
            <a:fillRect/>
          </a:stretch>
        </p:blipFill>
        <p:spPr>
          <a:xfrm>
            <a:off x="6080760" y="2240280"/>
            <a:ext cx="274320" cy="274320"/>
          </a:xfrm>
          <a:prstGeom prst="rect">
            <a:avLst/>
          </a:prstGeom>
        </p:spPr>
      </p:pic>
      <p:sp>
        <p:nvSpPr>
          <p:cNvPr id="17" name="Shape 11"/>
          <p:cNvSpPr/>
          <p:nvPr/>
        </p:nvSpPr>
        <p:spPr>
          <a:xfrm>
            <a:off x="6400800" y="1188720"/>
            <a:ext cx="2468880" cy="2926080"/>
          </a:xfrm>
          <a:prstGeom prst="rect">
            <a:avLst/>
          </a:prstGeom>
          <a:solidFill>
            <a:srgbClr val="1E293B"/>
          </a:solidFill>
          <a:ln/>
          <a:effectLst>
            <a:outerShdw sx="100000" sy="100000" kx="0" ky="0" algn="bl" rotWithShape="0" blurRad="76200" dist="25400" dir="8100000">
              <a:srgbClr val="000000">
                <a:alpha val="12000"/>
              </a:srgbClr>
            </a:outerShdw>
          </a:effectLst>
        </p:spPr>
      </p:sp>
      <p:sp>
        <p:nvSpPr>
          <p:cNvPr id="18" name="Shape 12"/>
          <p:cNvSpPr/>
          <p:nvPr/>
        </p:nvSpPr>
        <p:spPr>
          <a:xfrm>
            <a:off x="7269480" y="1371600"/>
            <a:ext cx="548640" cy="548640"/>
          </a:xfrm>
          <a:prstGeom prst="ellipse">
            <a:avLst/>
          </a:prstGeom>
          <a:solidFill>
            <a:srgbClr val="6366F1"/>
          </a:solidFill>
          <a:ln/>
        </p:spPr>
      </p:sp>
      <p:sp>
        <p:nvSpPr>
          <p:cNvPr id="19" name="Text 13"/>
          <p:cNvSpPr/>
          <p:nvPr/>
        </p:nvSpPr>
        <p:spPr>
          <a:xfrm>
            <a:off x="7269480" y="1371600"/>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Trebuchet MS" pitchFamily="34" charset="0"/>
                <a:ea typeface="Trebuchet MS" pitchFamily="34" charset="-122"/>
                <a:cs typeface="Trebuchet MS" pitchFamily="34" charset="-120"/>
              </a:rPr>
              <a:t>3</a:t>
            </a:r>
            <a:endParaRPr lang="en-US" sz="2000" dirty="0"/>
          </a:p>
        </p:txBody>
      </p:sp>
      <p:pic>
        <p:nvPicPr>
          <p:cNvPr id="20" name="Image 4" descr="preencoded.png">    </p:cNvPr>
          <p:cNvPicPr>
            <a:picLocks noChangeAspect="1"/>
          </p:cNvPicPr>
          <p:nvPr/>
        </p:nvPicPr>
        <p:blipFill>
          <a:blip r:embed="rId5"/>
          <a:stretch>
            <a:fillRect/>
          </a:stretch>
        </p:blipFill>
        <p:spPr>
          <a:xfrm>
            <a:off x="7269480" y="2103120"/>
            <a:ext cx="548640" cy="548640"/>
          </a:xfrm>
          <a:prstGeom prst="rect">
            <a:avLst/>
          </a:prstGeom>
        </p:spPr>
      </p:pic>
      <p:sp>
        <p:nvSpPr>
          <p:cNvPr id="21" name="Text 14"/>
          <p:cNvSpPr/>
          <p:nvPr/>
        </p:nvSpPr>
        <p:spPr>
          <a:xfrm>
            <a:off x="6400800" y="2788920"/>
            <a:ext cx="2468880" cy="365760"/>
          </a:xfrm>
          <a:prstGeom prst="rect">
            <a:avLst/>
          </a:prstGeom>
          <a:noFill/>
          <a:ln/>
        </p:spPr>
        <p:txBody>
          <a:bodyPr wrap="square" lIns="0" tIns="0" rIns="0" bIns="0" rtlCol="0" anchor="ctr"/>
          <a:lstStyle/>
          <a:p>
            <a:pPr algn="ctr" indent="0" marL="0">
              <a:buNone/>
            </a:pPr>
            <a:r>
              <a:rPr lang="en-US" sz="1600" b="1" dirty="0">
                <a:solidFill>
                  <a:srgbClr val="F97316"/>
                </a:solidFill>
                <a:latin typeface="Trebuchet MS" pitchFamily="34" charset="0"/>
                <a:ea typeface="Trebuchet MS" pitchFamily="34" charset="-122"/>
                <a:cs typeface="Trebuchet MS" pitchFamily="34" charset="-120"/>
              </a:rPr>
              <a:t>Watch the swarm</a:t>
            </a:r>
            <a:endParaRPr lang="en-US" sz="1600" dirty="0"/>
          </a:p>
        </p:txBody>
      </p:sp>
      <p:sp>
        <p:nvSpPr>
          <p:cNvPr id="22" name="Text 15"/>
          <p:cNvSpPr/>
          <p:nvPr/>
        </p:nvSpPr>
        <p:spPr>
          <a:xfrm>
            <a:off x="6537960" y="3200400"/>
            <a:ext cx="2194560" cy="8229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Feed in the mock SOW.</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Watch agents converse and</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hand off context. Inspect</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the final bid letter.</a:t>
            </a:r>
            <a:endParaRPr lang="en-US" sz="1200" dirty="0"/>
          </a:p>
        </p:txBody>
      </p:sp>
      <p:sp>
        <p:nvSpPr>
          <p:cNvPr id="23" name="Shape 16"/>
          <p:cNvSpPr/>
          <p:nvPr/>
        </p:nvSpPr>
        <p:spPr>
          <a:xfrm>
            <a:off x="731520" y="4389120"/>
            <a:ext cx="7680960" cy="502920"/>
          </a:xfrm>
          <a:prstGeom prst="rect">
            <a:avLst/>
          </a:prstGeom>
          <a:solidFill>
            <a:srgbClr val="FFFBEB"/>
          </a:solidFill>
          <a:ln/>
        </p:spPr>
      </p:sp>
      <p:pic>
        <p:nvPicPr>
          <p:cNvPr id="24" name="Image 5" descr="preencoded.png">    </p:cNvPr>
          <p:cNvPicPr>
            <a:picLocks noChangeAspect="1"/>
          </p:cNvPicPr>
          <p:nvPr/>
        </p:nvPicPr>
        <p:blipFill>
          <a:blip r:embed="rId6"/>
          <a:stretch>
            <a:fillRect/>
          </a:stretch>
        </p:blipFill>
        <p:spPr>
          <a:xfrm>
            <a:off x="914400" y="4462272"/>
            <a:ext cx="274320" cy="274320"/>
          </a:xfrm>
          <a:prstGeom prst="rect">
            <a:avLst/>
          </a:prstGeom>
        </p:spPr>
      </p:pic>
      <p:sp>
        <p:nvSpPr>
          <p:cNvPr id="25" name="Text 17"/>
          <p:cNvSpPr/>
          <p:nvPr/>
        </p:nvSpPr>
        <p:spPr>
          <a:xfrm>
            <a:off x="1325880" y="4389120"/>
            <a:ext cx="6858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Test: Does Agent 3's bid letter reflect the data from Agents 1 and 2? Is the math correct?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457200"/>
            <a:ext cx="7680960" cy="54864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Key Takeaway</a:t>
            </a:r>
            <a:endParaRPr lang="en-US" sz="3600" dirty="0"/>
          </a:p>
        </p:txBody>
      </p:sp>
      <p:sp>
        <p:nvSpPr>
          <p:cNvPr id="3" name="Text 1"/>
          <p:cNvSpPr/>
          <p:nvPr/>
        </p:nvSpPr>
        <p:spPr>
          <a:xfrm>
            <a:off x="731520" y="1371600"/>
            <a:ext cx="7680960" cy="1371600"/>
          </a:xfrm>
          <a:prstGeom prst="rect">
            <a:avLst/>
          </a:prstGeom>
          <a:noFill/>
          <a:ln/>
        </p:spPr>
        <p:txBody>
          <a:bodyPr wrap="square" lIns="0" tIns="0" rIns="0" bIns="0" rtlCol="0" anchor="ctr"/>
          <a:lstStyle/>
          <a:p>
            <a:pPr indent="0" marL="0">
              <a:lnSpc>
                <a:spcPct val="130000"/>
              </a:lnSpc>
              <a:buNone/>
            </a:pPr>
            <a:r>
              <a:rPr lang="en-US" sz="2600" b="1" dirty="0">
                <a:solidFill>
                  <a:srgbClr val="F97316"/>
                </a:solidFill>
                <a:latin typeface="Trebuchet MS" pitchFamily="34" charset="0"/>
                <a:ea typeface="Trebuchet MS" pitchFamily="34" charset="-122"/>
                <a:cs typeface="Trebuchet MS" pitchFamily="34" charset="-120"/>
              </a:rPr>
              <a:t>One agent knows a lot.</a:t>
            </a:r>
            <a:endParaRPr lang="en-US" sz="2600" dirty="0"/>
          </a:p>
          <a:p>
            <a:pPr indent="0" marL="0">
              <a:lnSpc>
                <a:spcPct val="130000"/>
              </a:lnSpc>
              <a:buNone/>
            </a:pPr>
            <a:r>
              <a:rPr lang="en-US" sz="2600" b="1" dirty="0">
                <a:solidFill>
                  <a:srgbClr val="F97316"/>
                </a:solidFill>
                <a:latin typeface="Trebuchet MS" pitchFamily="34" charset="0"/>
                <a:ea typeface="Trebuchet MS" pitchFamily="34" charset="-122"/>
                <a:cs typeface="Trebuchet MS" pitchFamily="34" charset="-120"/>
              </a:rPr>
              <a:t>Three specialists know more.</a:t>
            </a:r>
            <a:endParaRPr lang="en-US" sz="2600" dirty="0"/>
          </a:p>
          <a:p>
            <a:pPr indent="0" marL="0">
              <a:lnSpc>
                <a:spcPct val="130000"/>
              </a:lnSpc>
              <a:buNone/>
            </a:pPr>
            <a:r>
              <a:rPr lang="en-US" sz="2600" b="1" dirty="0">
                <a:solidFill>
                  <a:srgbClr val="F97316"/>
                </a:solidFill>
                <a:latin typeface="Trebuchet MS" pitchFamily="34" charset="0"/>
                <a:ea typeface="Trebuchet MS" pitchFamily="34" charset="-122"/>
                <a:cs typeface="Trebuchet MS" pitchFamily="34" charset="-120"/>
              </a:rPr>
              <a:t>Observability keeps humans in control.</a:t>
            </a:r>
            <a:endParaRPr lang="en-US" sz="2600" dirty="0"/>
          </a:p>
        </p:txBody>
      </p:sp>
      <p:sp>
        <p:nvSpPr>
          <p:cNvPr id="4" name="Text 2"/>
          <p:cNvSpPr/>
          <p:nvPr/>
        </p:nvSpPr>
        <p:spPr>
          <a:xfrm>
            <a:off x="731520" y="2926080"/>
            <a:ext cx="7680960" cy="73152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Multi-agent systems model the real world: cross-functional teams collaborating on complex</a:t>
            </a:r>
            <a:endParaRPr lang="en-US" sz="1600" dirty="0"/>
          </a:p>
          <a:p>
            <a:pPr indent="0" marL="0">
              <a:buNone/>
            </a:pPr>
            <a:r>
              <a:rPr lang="en-US" sz="1600" dirty="0">
                <a:solidFill>
                  <a:srgbClr val="94A3B8"/>
                </a:solidFill>
                <a:latin typeface="Calibri" pitchFamily="34" charset="0"/>
                <a:ea typeface="Calibri" pitchFamily="34" charset="-122"/>
                <a:cs typeface="Calibri" pitchFamily="34" charset="-120"/>
              </a:rPr>
              <a:t>problems. But invisible AI reasoning is untrustworthy — observability is the key to adoption.</a:t>
            </a:r>
            <a:endParaRPr lang="en-US" sz="1600" dirty="0"/>
          </a:p>
        </p:txBody>
      </p:sp>
      <p:sp>
        <p:nvSpPr>
          <p:cNvPr id="5" name="Shape 3"/>
          <p:cNvSpPr/>
          <p:nvPr/>
        </p:nvSpPr>
        <p:spPr>
          <a:xfrm>
            <a:off x="731520" y="3840480"/>
            <a:ext cx="3657600" cy="640080"/>
          </a:xfrm>
          <a:prstGeom prst="rect">
            <a:avLst/>
          </a:prstGeom>
          <a:solidFill>
            <a:srgbClr val="1E293B"/>
          </a:solidFill>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914400" y="3931920"/>
            <a:ext cx="365760" cy="365760"/>
          </a:xfrm>
          <a:prstGeom prst="rect">
            <a:avLst/>
          </a:prstGeom>
        </p:spPr>
      </p:pic>
      <p:sp>
        <p:nvSpPr>
          <p:cNvPr id="7" name="Text 4"/>
          <p:cNvSpPr/>
          <p:nvPr/>
        </p:nvSpPr>
        <p:spPr>
          <a:xfrm>
            <a:off x="1371600" y="3840480"/>
            <a:ext cx="2834640" cy="640080"/>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Specialized agents &gt; one generalist</a:t>
            </a:r>
            <a:endParaRPr lang="en-US" sz="1300" dirty="0"/>
          </a:p>
        </p:txBody>
      </p:sp>
      <p:sp>
        <p:nvSpPr>
          <p:cNvPr id="8" name="Shape 5"/>
          <p:cNvSpPr/>
          <p:nvPr/>
        </p:nvSpPr>
        <p:spPr>
          <a:xfrm>
            <a:off x="4754880" y="3840480"/>
            <a:ext cx="3657600" cy="640080"/>
          </a:xfrm>
          <a:prstGeom prst="rect">
            <a:avLst/>
          </a:prstGeom>
          <a:solidFill>
            <a:srgbClr val="1E293B"/>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4937760" y="3931920"/>
            <a:ext cx="365760" cy="365760"/>
          </a:xfrm>
          <a:prstGeom prst="rect">
            <a:avLst/>
          </a:prstGeom>
        </p:spPr>
      </p:pic>
      <p:sp>
        <p:nvSpPr>
          <p:cNvPr id="10" name="Text 6"/>
          <p:cNvSpPr/>
          <p:nvPr/>
        </p:nvSpPr>
        <p:spPr>
          <a:xfrm>
            <a:off x="5394960" y="3840480"/>
            <a:ext cx="2834640" cy="640080"/>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Observability builds human trust</a:t>
            </a:r>
            <a:endParaRPr lang="en-US" sz="1300" dirty="0"/>
          </a:p>
        </p:txBody>
      </p:sp>
      <p:sp>
        <p:nvSpPr>
          <p:cNvPr id="11" name="Shape 7"/>
          <p:cNvSpPr/>
          <p:nvPr/>
        </p:nvSpPr>
        <p:spPr>
          <a:xfrm>
            <a:off x="0" y="4594860"/>
            <a:ext cx="9144000" cy="548640"/>
          </a:xfrm>
          <a:prstGeom prst="rect">
            <a:avLst/>
          </a:prstGeom>
          <a:solidFill>
            <a:srgbClr val="6366F1"/>
          </a:solidFill>
          <a:ln/>
        </p:spPr>
      </p:sp>
      <p:sp>
        <p:nvSpPr>
          <p:cNvPr id="12" name="Text 8"/>
          <p:cNvSpPr/>
          <p:nvPr/>
        </p:nvSpPr>
        <p:spPr>
          <a:xfrm>
            <a:off x="731520" y="4594860"/>
            <a:ext cx="768096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Next: Task 8 — Capstone: End-to-End Smart Safety Watchdog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7: Multi-Agent — The Mock EPC Bid Syndicate</dc:title>
  <dc:subject>PptxGenJS Presentation</dc:subject>
  <dc:creator>Tony — Transrail AI Workshop</dc:creator>
  <cp:lastModifiedBy>Tony — Transrail AI Workshop</cp:lastModifiedBy>
  <cp:revision>1</cp:revision>
  <dcterms:created xsi:type="dcterms:W3CDTF">2026-03-11T23:21:37Z</dcterms:created>
  <dcterms:modified xsi:type="dcterms:W3CDTF">2026-03-11T23:21:37Z</dcterms:modified>
</cp:coreProperties>
</file>